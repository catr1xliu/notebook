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30276800" cy="42799000"/>
  <p:notesSz cx="6858000" cy="9144000"/>
  <p:embeddedFontLst>
    <p:embeddedFont>
      <p:font typeface="Arial" charset="1" panose="020B0604020202020204"/>
      <p:regular r:id="rId7"/>
    </p:embeddedFont>
    <p:embeddedFont>
      <p:font typeface="Arial Bold" charset="1" panose="020B0704020202020204"/>
      <p:regular r:id="rId8"/>
    </p:embeddedFont>
    <p:embeddedFont>
      <p:font typeface="Noto Sans" charset="1" panose="020B0502040504020204"/>
      <p:regular r:id="rId9"/>
    </p:embeddedFont>
    <p:embeddedFont>
      <p:font typeface="Noto Sans Italics" charset="1" panose="020B0502040504090204"/>
      <p:regular r:id="rId10"/>
    </p:embeddedFont>
    <p:embeddedFont>
      <p:font typeface="Noto Sans Bold" charset="1" panose="020B0802040504020204"/>
      <p:regular r:id="rId11"/>
    </p:embeddedFont>
    <p:embeddedFont>
      <p:font typeface="Noto Sans Bold Italics" charset="1" panose="020B0802040504090204"/>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pn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79869" y="0"/>
            <a:ext cx="31004889" cy="4338311"/>
            <a:chOff x="0" y="0"/>
            <a:chExt cx="53034717" cy="7420801"/>
          </a:xfrm>
        </p:grpSpPr>
        <p:sp>
          <p:nvSpPr>
            <p:cNvPr name="Freeform 3" id="3">
              <a:extLst>
                <a:ext uri="{C183D7F6-B498-43B3-948B-1728B52AA6E4}">
                  <adec:decorative xmlns:adec="http://schemas.microsoft.com/office/drawing/2017/decorative" val="1"/>
                </a:ext>
              </a:extLst>
            </p:cNvPr>
            <p:cNvSpPr/>
            <p:nvPr/>
          </p:nvSpPr>
          <p:spPr>
            <a:xfrm flipH="false" flipV="false" rot="0">
              <a:off x="0" y="0"/>
              <a:ext cx="53034692" cy="7420737"/>
            </a:xfrm>
            <a:custGeom>
              <a:avLst/>
              <a:gdLst/>
              <a:ahLst/>
              <a:cxnLst/>
              <a:rect r="r" b="b" t="t" l="l"/>
              <a:pathLst>
                <a:path h="7420737" w="53034692">
                  <a:moveTo>
                    <a:pt x="0" y="0"/>
                  </a:moveTo>
                  <a:lnTo>
                    <a:pt x="53034692" y="0"/>
                  </a:lnTo>
                  <a:lnTo>
                    <a:pt x="53034692" y="7420737"/>
                  </a:lnTo>
                  <a:lnTo>
                    <a:pt x="0" y="7420737"/>
                  </a:lnTo>
                  <a:close/>
                </a:path>
              </a:pathLst>
            </a:custGeom>
            <a:solidFill>
              <a:srgbClr val="003C57"/>
            </a:solidFill>
          </p:spPr>
        </p:sp>
      </p:grpSp>
      <p:sp>
        <p:nvSpPr>
          <p:cNvPr name="AutoShape 4" id="4"/>
          <p:cNvSpPr/>
          <p:nvPr/>
        </p:nvSpPr>
        <p:spPr>
          <a:xfrm rot="14339">
            <a:off x="635461" y="1388322"/>
            <a:ext cx="29005622" cy="0"/>
          </a:xfrm>
          <a:prstGeom prst="line">
            <a:avLst/>
          </a:prstGeom>
          <a:ln cap="rnd" w="95250">
            <a:solidFill>
              <a:srgbClr val="FFFFFF"/>
            </a:solidFill>
            <a:prstDash val="solid"/>
            <a:headEnd type="none" len="sm" w="sm"/>
            <a:tailEnd type="none" len="sm" w="sm"/>
          </a:ln>
        </p:spPr>
      </p:sp>
      <p:grpSp>
        <p:nvGrpSpPr>
          <p:cNvPr name="Group 5" id="5"/>
          <p:cNvGrpSpPr/>
          <p:nvPr/>
        </p:nvGrpSpPr>
        <p:grpSpPr>
          <a:xfrm rot="0">
            <a:off x="713544" y="802597"/>
            <a:ext cx="2543983" cy="396506"/>
            <a:chOff x="0" y="0"/>
            <a:chExt cx="4456316" cy="694563"/>
          </a:xfrm>
        </p:grpSpPr>
        <p:sp>
          <p:nvSpPr>
            <p:cNvPr name="Freeform 6" id="6" descr="National Research Council Canada Logo"/>
            <p:cNvSpPr/>
            <p:nvPr/>
          </p:nvSpPr>
          <p:spPr>
            <a:xfrm flipH="false" flipV="false" rot="0">
              <a:off x="0" y="0"/>
              <a:ext cx="4456303" cy="694563"/>
            </a:xfrm>
            <a:custGeom>
              <a:avLst/>
              <a:gdLst/>
              <a:ahLst/>
              <a:cxnLst/>
              <a:rect r="r" b="b" t="t" l="l"/>
              <a:pathLst>
                <a:path h="694563" w="4456303">
                  <a:moveTo>
                    <a:pt x="0" y="0"/>
                  </a:moveTo>
                  <a:lnTo>
                    <a:pt x="4456303" y="0"/>
                  </a:lnTo>
                  <a:lnTo>
                    <a:pt x="4456303" y="694563"/>
                  </a:lnTo>
                  <a:lnTo>
                    <a:pt x="0" y="694563"/>
                  </a:lnTo>
                  <a:lnTo>
                    <a:pt x="0" y="0"/>
                  </a:lnTo>
                  <a:close/>
                </a:path>
              </a:pathLst>
            </a:custGeom>
            <a:blipFill>
              <a:blip r:embed="rId2"/>
              <a:stretch>
                <a:fillRect l="0" t="-27" r="0" b="-27"/>
              </a:stretch>
            </a:blipFill>
          </p:spPr>
        </p:sp>
      </p:grpSp>
      <p:grpSp>
        <p:nvGrpSpPr>
          <p:cNvPr name="Group 7" id="7"/>
          <p:cNvGrpSpPr/>
          <p:nvPr/>
        </p:nvGrpSpPr>
        <p:grpSpPr>
          <a:xfrm rot="0">
            <a:off x="754101" y="1621115"/>
            <a:ext cx="17168062" cy="1914271"/>
            <a:chOff x="0" y="0"/>
            <a:chExt cx="30073435" cy="3353245"/>
          </a:xfrm>
        </p:grpSpPr>
        <p:sp>
          <p:nvSpPr>
            <p:cNvPr name="Freeform 8" id="8"/>
            <p:cNvSpPr/>
            <p:nvPr/>
          </p:nvSpPr>
          <p:spPr>
            <a:xfrm flipH="false" flipV="false" rot="0">
              <a:off x="0" y="0"/>
              <a:ext cx="30073439" cy="3353238"/>
            </a:xfrm>
            <a:custGeom>
              <a:avLst/>
              <a:gdLst/>
              <a:ahLst/>
              <a:cxnLst/>
              <a:rect r="r" b="b" t="t" l="l"/>
              <a:pathLst>
                <a:path h="3353238" w="30073439">
                  <a:moveTo>
                    <a:pt x="0" y="0"/>
                  </a:moveTo>
                  <a:lnTo>
                    <a:pt x="30073439" y="0"/>
                  </a:lnTo>
                  <a:lnTo>
                    <a:pt x="30073439" y="3353238"/>
                  </a:lnTo>
                  <a:lnTo>
                    <a:pt x="0" y="3353238"/>
                  </a:lnTo>
                  <a:close/>
                </a:path>
              </a:pathLst>
            </a:custGeom>
            <a:blipFill>
              <a:blip r:embed="rId3">
                <a:alphaModFix amt="0"/>
              </a:blip>
              <a:stretch>
                <a:fillRect l="0" t="-134355" r="0" b="-115146"/>
              </a:stretch>
            </a:blipFill>
          </p:spPr>
        </p:sp>
        <p:sp>
          <p:nvSpPr>
            <p:cNvPr name="TextBox 9" id="9"/>
            <p:cNvSpPr txBox="true"/>
            <p:nvPr/>
          </p:nvSpPr>
          <p:spPr>
            <a:xfrm>
              <a:off x="0" y="28575"/>
              <a:ext cx="30073435" cy="3324670"/>
            </a:xfrm>
            <a:prstGeom prst="rect">
              <a:avLst/>
            </a:prstGeom>
          </p:spPr>
          <p:txBody>
            <a:bodyPr anchor="b" rtlCol="false" tIns="0" lIns="0" bIns="0" rIns="0"/>
            <a:lstStyle/>
            <a:p>
              <a:pPr algn="l">
                <a:lnSpc>
                  <a:spcPts val="6033"/>
                </a:lnSpc>
              </a:pPr>
              <a:r>
                <a:rPr lang="en-US" sz="5586">
                  <a:solidFill>
                    <a:srgbClr val="FFFFFF"/>
                  </a:solidFill>
                  <a:latin typeface="Arial"/>
                  <a:ea typeface="Arial"/>
                  <a:cs typeface="Arial"/>
                  <a:sym typeface="Arial"/>
                </a:rPr>
                <a:t>Modeling Aging Signatures in Human Motion via Motion Diffusion Models for Elder Care Robotics </a:t>
              </a:r>
            </a:p>
          </p:txBody>
        </p:sp>
      </p:grpSp>
      <p:grpSp>
        <p:nvGrpSpPr>
          <p:cNvPr name="Group 10" id="10"/>
          <p:cNvGrpSpPr/>
          <p:nvPr/>
        </p:nvGrpSpPr>
        <p:grpSpPr>
          <a:xfrm rot="0">
            <a:off x="17899238" y="73118"/>
            <a:ext cx="7354097" cy="899850"/>
            <a:chOff x="0" y="0"/>
            <a:chExt cx="12882232" cy="1576275"/>
          </a:xfrm>
        </p:grpSpPr>
        <p:sp>
          <p:nvSpPr>
            <p:cNvPr name="Freeform 11" id="11"/>
            <p:cNvSpPr/>
            <p:nvPr/>
          </p:nvSpPr>
          <p:spPr>
            <a:xfrm flipH="false" flipV="false" rot="0">
              <a:off x="0" y="0"/>
              <a:ext cx="12882232" cy="1576278"/>
            </a:xfrm>
            <a:custGeom>
              <a:avLst/>
              <a:gdLst/>
              <a:ahLst/>
              <a:cxnLst/>
              <a:rect r="r" b="b" t="t" l="l"/>
              <a:pathLst>
                <a:path h="1576278" w="12882232">
                  <a:moveTo>
                    <a:pt x="0" y="0"/>
                  </a:moveTo>
                  <a:lnTo>
                    <a:pt x="12882232" y="0"/>
                  </a:lnTo>
                  <a:lnTo>
                    <a:pt x="12882232" y="1576278"/>
                  </a:lnTo>
                  <a:lnTo>
                    <a:pt x="0" y="1576278"/>
                  </a:lnTo>
                  <a:close/>
                </a:path>
              </a:pathLst>
            </a:custGeom>
            <a:blipFill>
              <a:blip r:embed="rId3">
                <a:alphaModFix amt="0"/>
              </a:blip>
              <a:stretch>
                <a:fillRect l="0" t="-262028" r="-91251" b="-247079"/>
              </a:stretch>
            </a:blipFill>
          </p:spPr>
        </p:sp>
        <p:sp>
          <p:nvSpPr>
            <p:cNvPr name="TextBox 12" id="12"/>
            <p:cNvSpPr txBox="true"/>
            <p:nvPr/>
          </p:nvSpPr>
          <p:spPr>
            <a:xfrm>
              <a:off x="0" y="-19050"/>
              <a:ext cx="12882232" cy="1595325"/>
            </a:xfrm>
            <a:prstGeom prst="rect">
              <a:avLst/>
            </a:prstGeom>
          </p:spPr>
          <p:txBody>
            <a:bodyPr anchor="b" rtlCol="false" tIns="0" lIns="0" bIns="0" rIns="0"/>
            <a:lstStyle/>
            <a:p>
              <a:pPr algn="r">
                <a:lnSpc>
                  <a:spcPts val="3014"/>
                </a:lnSpc>
              </a:pPr>
              <a:r>
                <a:rPr lang="en-US" sz="2511">
                  <a:solidFill>
                    <a:srgbClr val="FFFFFF"/>
                  </a:solidFill>
                  <a:latin typeface="Arial"/>
                  <a:ea typeface="Arial"/>
                  <a:cs typeface="Arial"/>
                  <a:sym typeface="Arial"/>
                </a:rPr>
                <a:t>Robotic and AI for Aging</a:t>
              </a:r>
            </a:p>
            <a:p>
              <a:pPr algn="r">
                <a:lnSpc>
                  <a:spcPts val="3014"/>
                </a:lnSpc>
              </a:pPr>
              <a:r>
                <a:rPr lang="en-US" sz="2511">
                  <a:solidFill>
                    <a:srgbClr val="FFFFFF"/>
                  </a:solidFill>
                  <a:latin typeface="Arial"/>
                  <a:ea typeface="Arial"/>
                  <a:cs typeface="Arial"/>
                  <a:sym typeface="Arial"/>
                </a:rPr>
                <a:t>ICRA 2026</a:t>
              </a:r>
            </a:p>
          </p:txBody>
        </p:sp>
      </p:grpSp>
      <p:grpSp>
        <p:nvGrpSpPr>
          <p:cNvPr name="Group 13" id="13"/>
          <p:cNvGrpSpPr/>
          <p:nvPr/>
        </p:nvGrpSpPr>
        <p:grpSpPr>
          <a:xfrm rot="0">
            <a:off x="18914580" y="1566731"/>
            <a:ext cx="10613821" cy="2079764"/>
            <a:chOff x="0" y="0"/>
            <a:chExt cx="18592317" cy="3643139"/>
          </a:xfrm>
        </p:grpSpPr>
        <p:sp>
          <p:nvSpPr>
            <p:cNvPr name="Freeform 14" id="14"/>
            <p:cNvSpPr/>
            <p:nvPr/>
          </p:nvSpPr>
          <p:spPr>
            <a:xfrm flipH="false" flipV="false" rot="0">
              <a:off x="0" y="0"/>
              <a:ext cx="18592319" cy="3643134"/>
            </a:xfrm>
            <a:custGeom>
              <a:avLst/>
              <a:gdLst/>
              <a:ahLst/>
              <a:cxnLst/>
              <a:rect r="r" b="b" t="t" l="l"/>
              <a:pathLst>
                <a:path h="3643134" w="18592319">
                  <a:moveTo>
                    <a:pt x="0" y="0"/>
                  </a:moveTo>
                  <a:lnTo>
                    <a:pt x="18592319" y="0"/>
                  </a:lnTo>
                  <a:lnTo>
                    <a:pt x="18592319" y="3643134"/>
                  </a:lnTo>
                  <a:lnTo>
                    <a:pt x="0" y="3643134"/>
                  </a:lnTo>
                  <a:close/>
                </a:path>
              </a:pathLst>
            </a:custGeom>
            <a:blipFill>
              <a:blip r:embed="rId3">
                <a:alphaModFix amt="0"/>
              </a:blip>
              <a:stretch>
                <a:fillRect l="0" t="-64195" r="0" b="-34684"/>
              </a:stretch>
            </a:blipFill>
          </p:spPr>
        </p:sp>
        <p:sp>
          <p:nvSpPr>
            <p:cNvPr name="TextBox 15" id="15"/>
            <p:cNvSpPr txBox="true"/>
            <p:nvPr/>
          </p:nvSpPr>
          <p:spPr>
            <a:xfrm>
              <a:off x="0" y="-19050"/>
              <a:ext cx="18592317" cy="3662189"/>
            </a:xfrm>
            <a:prstGeom prst="rect">
              <a:avLst/>
            </a:prstGeom>
          </p:spPr>
          <p:txBody>
            <a:bodyPr anchor="b" rtlCol="false" tIns="0" lIns="0" bIns="0" rIns="0"/>
            <a:lstStyle/>
            <a:p>
              <a:pPr algn="r">
                <a:lnSpc>
                  <a:spcPts val="3288"/>
                </a:lnSpc>
              </a:pPr>
              <a:r>
                <a:rPr lang="en-US" sz="2740" b="true">
                  <a:solidFill>
                    <a:srgbClr val="FFFFFF"/>
                  </a:solidFill>
                  <a:latin typeface="Arial Bold"/>
                  <a:ea typeface="Arial Bold"/>
                  <a:cs typeface="Arial Bold"/>
                  <a:sym typeface="Arial Bold"/>
                </a:rPr>
                <a:t>Yiran Liu¹'², Eugene Zhao¹'², Karim Habashy¹'², Joanna Peng¹'², Jason Peng³, Chang Shu¹, Pengcheng Xi¹</a:t>
              </a:r>
            </a:p>
            <a:p>
              <a:pPr algn="r">
                <a:lnSpc>
                  <a:spcPts val="3288"/>
                </a:lnSpc>
              </a:pPr>
            </a:p>
            <a:p>
              <a:pPr algn="r">
                <a:lnSpc>
                  <a:spcPts val="3288"/>
                </a:lnSpc>
              </a:pPr>
            </a:p>
            <a:p>
              <a:pPr algn="r">
                <a:lnSpc>
                  <a:spcPts val="2374"/>
                </a:lnSpc>
              </a:pPr>
              <a:r>
                <a:rPr lang="en-US" sz="1979" b="true">
                  <a:solidFill>
                    <a:srgbClr val="FFFFFF"/>
                  </a:solidFill>
                  <a:latin typeface="Arial Bold"/>
                  <a:ea typeface="Arial Bold"/>
                  <a:cs typeface="Arial Bold"/>
                  <a:sym typeface="Arial Bold"/>
                </a:rPr>
                <a:t>¹National Research Council Canada,  ²University of Waterloo,  ³Simon Fraser University</a:t>
              </a:r>
            </a:p>
          </p:txBody>
        </p:sp>
      </p:grpSp>
      <p:sp>
        <p:nvSpPr>
          <p:cNvPr name="AutoShape 16" id="16"/>
          <p:cNvSpPr/>
          <p:nvPr/>
        </p:nvSpPr>
        <p:spPr>
          <a:xfrm rot="2339">
            <a:off x="686335" y="3714332"/>
            <a:ext cx="28903874" cy="0"/>
          </a:xfrm>
          <a:prstGeom prst="line">
            <a:avLst/>
          </a:prstGeom>
          <a:ln cap="rnd" w="19050">
            <a:solidFill>
              <a:srgbClr val="FFFFFF"/>
            </a:solidFill>
            <a:prstDash val="solid"/>
            <a:headEnd type="none" len="sm" w="sm"/>
            <a:tailEnd type="none" len="sm" w="sm"/>
          </a:ln>
        </p:spPr>
      </p:sp>
      <p:grpSp>
        <p:nvGrpSpPr>
          <p:cNvPr name="Group 17" id="17"/>
          <p:cNvGrpSpPr/>
          <p:nvPr/>
        </p:nvGrpSpPr>
        <p:grpSpPr>
          <a:xfrm rot="0">
            <a:off x="26984940" y="87741"/>
            <a:ext cx="2600432" cy="1330867"/>
            <a:chOff x="0" y="0"/>
            <a:chExt cx="4764481" cy="2438400"/>
          </a:xfrm>
        </p:grpSpPr>
        <p:sp>
          <p:nvSpPr>
            <p:cNvPr name="Freeform 18" id="18"/>
            <p:cNvSpPr/>
            <p:nvPr/>
          </p:nvSpPr>
          <p:spPr>
            <a:xfrm flipH="false" flipV="false" rot="0">
              <a:off x="0" y="0"/>
              <a:ext cx="4764532" cy="2438400"/>
            </a:xfrm>
            <a:custGeom>
              <a:avLst/>
              <a:gdLst/>
              <a:ahLst/>
              <a:cxnLst/>
              <a:rect r="r" b="b" t="t" l="l"/>
              <a:pathLst>
                <a:path h="2438400" w="4764532">
                  <a:moveTo>
                    <a:pt x="331580" y="0"/>
                  </a:moveTo>
                  <a:lnTo>
                    <a:pt x="4432952" y="0"/>
                  </a:lnTo>
                  <a:cubicBezTo>
                    <a:pt x="4616078" y="0"/>
                    <a:pt x="4764532" y="148454"/>
                    <a:pt x="4764532" y="331580"/>
                  </a:cubicBezTo>
                  <a:lnTo>
                    <a:pt x="4764532" y="2106820"/>
                  </a:lnTo>
                  <a:cubicBezTo>
                    <a:pt x="4764532" y="2289946"/>
                    <a:pt x="4616078" y="2438400"/>
                    <a:pt x="4432952" y="2438400"/>
                  </a:cubicBezTo>
                  <a:lnTo>
                    <a:pt x="331580" y="2438400"/>
                  </a:lnTo>
                  <a:cubicBezTo>
                    <a:pt x="148454" y="2438400"/>
                    <a:pt x="0" y="2289946"/>
                    <a:pt x="0" y="2106820"/>
                  </a:cubicBezTo>
                  <a:lnTo>
                    <a:pt x="0" y="331580"/>
                  </a:lnTo>
                  <a:cubicBezTo>
                    <a:pt x="0" y="148454"/>
                    <a:pt x="148454" y="0"/>
                    <a:pt x="331580" y="0"/>
                  </a:cubicBezTo>
                  <a:close/>
                </a:path>
              </a:pathLst>
            </a:custGeom>
            <a:blipFill>
              <a:blip r:embed="rId4"/>
              <a:stretch>
                <a:fillRect l="0" t="-5" r="1" b="-5"/>
              </a:stretch>
            </a:blipFill>
          </p:spPr>
        </p:sp>
      </p:grpSp>
      <p:sp>
        <p:nvSpPr>
          <p:cNvPr name="Freeform 19" id="19"/>
          <p:cNvSpPr/>
          <p:nvPr/>
        </p:nvSpPr>
        <p:spPr>
          <a:xfrm flipH="false" flipV="false" rot="0">
            <a:off x="25550823" y="65868"/>
            <a:ext cx="1341361" cy="1341361"/>
          </a:xfrm>
          <a:custGeom>
            <a:avLst/>
            <a:gdLst/>
            <a:ahLst/>
            <a:cxnLst/>
            <a:rect r="r" b="b" t="t" l="l"/>
            <a:pathLst>
              <a:path h="1341361" w="1341361">
                <a:moveTo>
                  <a:pt x="0" y="0"/>
                </a:moveTo>
                <a:lnTo>
                  <a:pt x="1341361" y="0"/>
                </a:lnTo>
                <a:lnTo>
                  <a:pt x="1341361" y="1341361"/>
                </a:lnTo>
                <a:lnTo>
                  <a:pt x="0" y="1341361"/>
                </a:lnTo>
                <a:lnTo>
                  <a:pt x="0" y="0"/>
                </a:lnTo>
                <a:close/>
              </a:path>
            </a:pathLst>
          </a:custGeom>
          <a:blipFill>
            <a:blip r:embed="rId5"/>
            <a:stretch>
              <a:fillRect l="0" t="0" r="0" b="0"/>
            </a:stretch>
          </a:blipFill>
        </p:spPr>
      </p:sp>
      <p:grpSp>
        <p:nvGrpSpPr>
          <p:cNvPr name="Group 20" id="20"/>
          <p:cNvGrpSpPr/>
          <p:nvPr/>
        </p:nvGrpSpPr>
        <p:grpSpPr>
          <a:xfrm rot="0">
            <a:off x="807999" y="4558065"/>
            <a:ext cx="14227021" cy="691928"/>
            <a:chOff x="0" y="0"/>
            <a:chExt cx="18900064" cy="919200"/>
          </a:xfrm>
        </p:grpSpPr>
        <p:sp>
          <p:nvSpPr>
            <p:cNvPr name="Freeform 21" id="21"/>
            <p:cNvSpPr/>
            <p:nvPr/>
          </p:nvSpPr>
          <p:spPr>
            <a:xfrm flipH="false" flipV="false" rot="0">
              <a:off x="0" y="0"/>
              <a:ext cx="18900028" cy="919099"/>
            </a:xfrm>
            <a:custGeom>
              <a:avLst/>
              <a:gdLst/>
              <a:ahLst/>
              <a:cxnLst/>
              <a:rect r="r" b="b" t="t" l="l"/>
              <a:pathLst>
                <a:path h="919099" w="18900028">
                  <a:moveTo>
                    <a:pt x="0" y="153162"/>
                  </a:moveTo>
                  <a:cubicBezTo>
                    <a:pt x="0" y="68580"/>
                    <a:pt x="95811" y="0"/>
                    <a:pt x="213979" y="0"/>
                  </a:cubicBezTo>
                  <a:lnTo>
                    <a:pt x="18686050" y="0"/>
                  </a:lnTo>
                  <a:cubicBezTo>
                    <a:pt x="18804217" y="0"/>
                    <a:pt x="18900028" y="68580"/>
                    <a:pt x="18900028" y="153162"/>
                  </a:cubicBezTo>
                  <a:lnTo>
                    <a:pt x="18900028" y="765937"/>
                  </a:lnTo>
                  <a:cubicBezTo>
                    <a:pt x="18900028" y="850518"/>
                    <a:pt x="18804217" y="919098"/>
                    <a:pt x="18686050" y="919098"/>
                  </a:cubicBezTo>
                  <a:lnTo>
                    <a:pt x="213979" y="919098"/>
                  </a:lnTo>
                  <a:cubicBezTo>
                    <a:pt x="95811" y="919225"/>
                    <a:pt x="0" y="850645"/>
                    <a:pt x="0" y="765937"/>
                  </a:cubicBezTo>
                  <a:close/>
                </a:path>
              </a:pathLst>
            </a:custGeom>
            <a:solidFill>
              <a:srgbClr val="1B3A6B"/>
            </a:solidFill>
          </p:spPr>
        </p:sp>
        <p:sp>
          <p:nvSpPr>
            <p:cNvPr name="TextBox 22" id="22"/>
            <p:cNvSpPr txBox="true"/>
            <p:nvPr/>
          </p:nvSpPr>
          <p:spPr>
            <a:xfrm>
              <a:off x="0" y="-19050"/>
              <a:ext cx="18900064" cy="938250"/>
            </a:xfrm>
            <a:prstGeom prst="rect">
              <a:avLst/>
            </a:prstGeom>
          </p:spPr>
          <p:txBody>
            <a:bodyPr anchor="ctr" rtlCol="false" tIns="38667" lIns="38667" bIns="38667" rIns="38667"/>
            <a:lstStyle/>
            <a:p>
              <a:pPr algn="l">
                <a:lnSpc>
                  <a:spcPts val="3359"/>
                </a:lnSpc>
              </a:pPr>
              <a:r>
                <a:rPr lang="en-US" sz="2799" b="true">
                  <a:solidFill>
                    <a:srgbClr val="FFFFFF"/>
                  </a:solidFill>
                  <a:latin typeface="Arial Bold"/>
                  <a:ea typeface="Arial Bold"/>
                  <a:cs typeface="Arial Bold"/>
                  <a:sym typeface="Arial Bold"/>
                </a:rPr>
                <a:t> </a:t>
              </a:r>
              <a:r>
                <a:rPr lang="en-US" sz="2799" b="true">
                  <a:solidFill>
                    <a:srgbClr val="FFFFFF"/>
                  </a:solidFill>
                  <a:latin typeface="Arial Bold"/>
                  <a:ea typeface="Arial Bold"/>
                  <a:cs typeface="Arial Bold"/>
                  <a:sym typeface="Arial Bold"/>
                </a:rPr>
                <a:t>Abstract</a:t>
              </a:r>
            </a:p>
          </p:txBody>
        </p:sp>
      </p:grpSp>
      <p:grpSp>
        <p:nvGrpSpPr>
          <p:cNvPr name="Group 23" id="23"/>
          <p:cNvGrpSpPr/>
          <p:nvPr/>
        </p:nvGrpSpPr>
        <p:grpSpPr>
          <a:xfrm rot="0">
            <a:off x="770088" y="11139571"/>
            <a:ext cx="14264932" cy="691928"/>
            <a:chOff x="0" y="0"/>
            <a:chExt cx="18950428" cy="919200"/>
          </a:xfrm>
        </p:grpSpPr>
        <p:sp>
          <p:nvSpPr>
            <p:cNvPr name="Freeform 24" id="24"/>
            <p:cNvSpPr/>
            <p:nvPr/>
          </p:nvSpPr>
          <p:spPr>
            <a:xfrm flipH="false" flipV="false" rot="0">
              <a:off x="0" y="0"/>
              <a:ext cx="18950392" cy="919099"/>
            </a:xfrm>
            <a:custGeom>
              <a:avLst/>
              <a:gdLst/>
              <a:ahLst/>
              <a:cxnLst/>
              <a:rect r="r" b="b" t="t" l="l"/>
              <a:pathLst>
                <a:path h="919099" w="18950392">
                  <a:moveTo>
                    <a:pt x="0" y="153162"/>
                  </a:moveTo>
                  <a:cubicBezTo>
                    <a:pt x="0" y="68580"/>
                    <a:pt x="96067" y="0"/>
                    <a:pt x="214549" y="0"/>
                  </a:cubicBezTo>
                  <a:lnTo>
                    <a:pt x="18735844" y="0"/>
                  </a:lnTo>
                  <a:cubicBezTo>
                    <a:pt x="18854325" y="0"/>
                    <a:pt x="18950392" y="68580"/>
                    <a:pt x="18950392" y="153162"/>
                  </a:cubicBezTo>
                  <a:lnTo>
                    <a:pt x="18950392" y="765937"/>
                  </a:lnTo>
                  <a:cubicBezTo>
                    <a:pt x="18950392" y="850518"/>
                    <a:pt x="18854325" y="919098"/>
                    <a:pt x="18735844" y="919098"/>
                  </a:cubicBezTo>
                  <a:lnTo>
                    <a:pt x="214549" y="919098"/>
                  </a:lnTo>
                  <a:cubicBezTo>
                    <a:pt x="96067" y="919225"/>
                    <a:pt x="0" y="850645"/>
                    <a:pt x="0" y="765937"/>
                  </a:cubicBezTo>
                  <a:close/>
                </a:path>
              </a:pathLst>
            </a:custGeom>
            <a:solidFill>
              <a:srgbClr val="1B3A6B"/>
            </a:solidFill>
          </p:spPr>
        </p:sp>
        <p:sp>
          <p:nvSpPr>
            <p:cNvPr name="TextBox 25" id="25"/>
            <p:cNvSpPr txBox="true"/>
            <p:nvPr/>
          </p:nvSpPr>
          <p:spPr>
            <a:xfrm>
              <a:off x="0" y="-19050"/>
              <a:ext cx="18950428" cy="938250"/>
            </a:xfrm>
            <a:prstGeom prst="rect">
              <a:avLst/>
            </a:prstGeom>
          </p:spPr>
          <p:txBody>
            <a:bodyPr anchor="ctr" rtlCol="false" tIns="38667" lIns="38667" bIns="38667" rIns="38667"/>
            <a:lstStyle/>
            <a:p>
              <a:pPr algn="l">
                <a:lnSpc>
                  <a:spcPts val="3359"/>
                </a:lnSpc>
              </a:pPr>
              <a:r>
                <a:rPr lang="en-US" sz="2799" b="true">
                  <a:solidFill>
                    <a:srgbClr val="FFFFFF"/>
                  </a:solidFill>
                  <a:latin typeface="Arial Bold"/>
                  <a:ea typeface="Arial Bold"/>
                  <a:cs typeface="Arial Bold"/>
                  <a:sym typeface="Arial Bold"/>
                </a:rPr>
                <a:t> </a:t>
              </a:r>
              <a:r>
                <a:rPr lang="en-US" sz="2799" b="true">
                  <a:solidFill>
                    <a:srgbClr val="FFFFFF"/>
                  </a:solidFill>
                  <a:latin typeface="Arial Bold"/>
                  <a:ea typeface="Arial Bold"/>
                  <a:cs typeface="Arial Bold"/>
                  <a:sym typeface="Arial Bold"/>
                </a:rPr>
                <a:t>Van Criekinge Dataset and Data Proccessing</a:t>
              </a:r>
            </a:p>
          </p:txBody>
        </p:sp>
      </p:grpSp>
      <p:grpSp>
        <p:nvGrpSpPr>
          <p:cNvPr name="Group 26" id="26"/>
          <p:cNvGrpSpPr/>
          <p:nvPr/>
        </p:nvGrpSpPr>
        <p:grpSpPr>
          <a:xfrm rot="0">
            <a:off x="13038146" y="12002948"/>
            <a:ext cx="1664239" cy="874917"/>
            <a:chOff x="0" y="0"/>
            <a:chExt cx="2210880" cy="1162294"/>
          </a:xfrm>
        </p:grpSpPr>
        <p:sp>
          <p:nvSpPr>
            <p:cNvPr name="Freeform 27" id="27"/>
            <p:cNvSpPr/>
            <p:nvPr/>
          </p:nvSpPr>
          <p:spPr>
            <a:xfrm flipH="false" flipV="false" rot="0">
              <a:off x="0" y="0"/>
              <a:ext cx="2210943" cy="1162409"/>
            </a:xfrm>
            <a:custGeom>
              <a:avLst/>
              <a:gdLst/>
              <a:ahLst/>
              <a:cxnLst/>
              <a:rect r="r" b="b" t="t" l="l"/>
              <a:pathLst>
                <a:path h="1162409" w="2210943">
                  <a:moveTo>
                    <a:pt x="0" y="193765"/>
                  </a:moveTo>
                  <a:cubicBezTo>
                    <a:pt x="0" y="86716"/>
                    <a:pt x="108331" y="0"/>
                    <a:pt x="242062" y="0"/>
                  </a:cubicBezTo>
                  <a:lnTo>
                    <a:pt x="1968881" y="0"/>
                  </a:lnTo>
                  <a:cubicBezTo>
                    <a:pt x="2102485" y="0"/>
                    <a:pt x="2210943" y="86716"/>
                    <a:pt x="2210943" y="193765"/>
                  </a:cubicBezTo>
                  <a:lnTo>
                    <a:pt x="2210943" y="968621"/>
                  </a:lnTo>
                  <a:cubicBezTo>
                    <a:pt x="2210943" y="1075568"/>
                    <a:pt x="2102612" y="1162409"/>
                    <a:pt x="1968881" y="1162409"/>
                  </a:cubicBezTo>
                  <a:lnTo>
                    <a:pt x="242062" y="1162409"/>
                  </a:lnTo>
                  <a:cubicBezTo>
                    <a:pt x="108331" y="1162284"/>
                    <a:pt x="0" y="1075568"/>
                    <a:pt x="0" y="968621"/>
                  </a:cubicBezTo>
                  <a:close/>
                </a:path>
              </a:pathLst>
            </a:custGeom>
            <a:solidFill>
              <a:srgbClr val="E8EDF5"/>
            </a:solidFill>
          </p:spPr>
        </p:sp>
        <p:sp>
          <p:nvSpPr>
            <p:cNvPr name="TextBox 28" id="28"/>
            <p:cNvSpPr txBox="true"/>
            <p:nvPr/>
          </p:nvSpPr>
          <p:spPr>
            <a:xfrm>
              <a:off x="0" y="-19050"/>
              <a:ext cx="2210880" cy="1181344"/>
            </a:xfrm>
            <a:prstGeom prst="rect">
              <a:avLst/>
            </a:prstGeom>
          </p:spPr>
          <p:txBody>
            <a:bodyPr anchor="ctr" rtlCol="false" tIns="38667" lIns="38667" bIns="38667" rIns="38667"/>
            <a:lstStyle/>
            <a:p>
              <a:pPr algn="ctr">
                <a:lnSpc>
                  <a:spcPts val="1644"/>
                </a:lnSpc>
              </a:pPr>
              <a:r>
                <a:rPr lang="en-US" sz="1370" b="true">
                  <a:solidFill>
                    <a:srgbClr val="1B3A6B"/>
                  </a:solidFill>
                  <a:latin typeface="Arial Bold"/>
                  <a:ea typeface="Arial Bold"/>
                  <a:cs typeface="Arial Bold"/>
                  <a:sym typeface="Arial Bold"/>
                </a:rPr>
                <a:t>588</a:t>
              </a:r>
            </a:p>
            <a:p>
              <a:pPr algn="ctr">
                <a:lnSpc>
                  <a:spcPts val="1644"/>
                </a:lnSpc>
              </a:pPr>
              <a:r>
                <a:rPr lang="en-US" sz="1370" b="true">
                  <a:solidFill>
                    <a:srgbClr val="1B3A6B"/>
                  </a:solidFill>
                  <a:latin typeface="Arial Bold"/>
                  <a:ea typeface="Arial Bold"/>
                  <a:cs typeface="Arial Bold"/>
                  <a:sym typeface="Arial Bold"/>
                </a:rPr>
                <a:t>Trials</a:t>
              </a:r>
            </a:p>
          </p:txBody>
        </p:sp>
      </p:grpSp>
      <p:grpSp>
        <p:nvGrpSpPr>
          <p:cNvPr name="Group 29" id="29"/>
          <p:cNvGrpSpPr/>
          <p:nvPr/>
        </p:nvGrpSpPr>
        <p:grpSpPr>
          <a:xfrm rot="0">
            <a:off x="3958330" y="12026102"/>
            <a:ext cx="1578965" cy="910993"/>
            <a:chOff x="0" y="0"/>
            <a:chExt cx="2097596" cy="1210220"/>
          </a:xfrm>
        </p:grpSpPr>
        <p:sp>
          <p:nvSpPr>
            <p:cNvPr name="Freeform 30" id="30"/>
            <p:cNvSpPr/>
            <p:nvPr/>
          </p:nvSpPr>
          <p:spPr>
            <a:xfrm flipH="false" flipV="false" rot="0">
              <a:off x="0" y="0"/>
              <a:ext cx="2097659" cy="1210188"/>
            </a:xfrm>
            <a:custGeom>
              <a:avLst/>
              <a:gdLst/>
              <a:ahLst/>
              <a:cxnLst/>
              <a:rect r="r" b="b" t="t" l="l"/>
              <a:pathLst>
                <a:path h="1210188" w="2097659">
                  <a:moveTo>
                    <a:pt x="0" y="201716"/>
                  </a:moveTo>
                  <a:cubicBezTo>
                    <a:pt x="0" y="90322"/>
                    <a:pt x="108331" y="0"/>
                    <a:pt x="241935" y="0"/>
                  </a:cubicBezTo>
                  <a:lnTo>
                    <a:pt x="1855724" y="0"/>
                  </a:lnTo>
                  <a:cubicBezTo>
                    <a:pt x="1989328" y="0"/>
                    <a:pt x="2097659" y="90322"/>
                    <a:pt x="2097659" y="201716"/>
                  </a:cubicBezTo>
                  <a:lnTo>
                    <a:pt x="2097659" y="1008473"/>
                  </a:lnTo>
                  <a:cubicBezTo>
                    <a:pt x="2097659" y="1119866"/>
                    <a:pt x="1989328" y="1210188"/>
                    <a:pt x="1855724" y="1210188"/>
                  </a:cubicBezTo>
                  <a:lnTo>
                    <a:pt x="241935" y="1210188"/>
                  </a:lnTo>
                  <a:cubicBezTo>
                    <a:pt x="108331" y="1210188"/>
                    <a:pt x="0" y="1119866"/>
                    <a:pt x="0" y="1008473"/>
                  </a:cubicBezTo>
                  <a:close/>
                </a:path>
              </a:pathLst>
            </a:custGeom>
            <a:solidFill>
              <a:srgbClr val="E8EDF5"/>
            </a:solidFill>
          </p:spPr>
        </p:sp>
        <p:sp>
          <p:nvSpPr>
            <p:cNvPr name="TextBox 31" id="31"/>
            <p:cNvSpPr txBox="true"/>
            <p:nvPr/>
          </p:nvSpPr>
          <p:spPr>
            <a:xfrm>
              <a:off x="0" y="-19050"/>
              <a:ext cx="2097596" cy="1229270"/>
            </a:xfrm>
            <a:prstGeom prst="rect">
              <a:avLst/>
            </a:prstGeom>
          </p:spPr>
          <p:txBody>
            <a:bodyPr anchor="ctr" rtlCol="false" tIns="38667" lIns="38667" bIns="38667" rIns="38667"/>
            <a:lstStyle/>
            <a:p>
              <a:pPr algn="ctr">
                <a:lnSpc>
                  <a:spcPts val="1644"/>
                </a:lnSpc>
              </a:pPr>
              <a:r>
                <a:rPr lang="en-US" sz="1370" b="true">
                  <a:solidFill>
                    <a:srgbClr val="1B3A6B"/>
                  </a:solidFill>
                  <a:latin typeface="Arial Bold"/>
                  <a:ea typeface="Arial Bold"/>
                  <a:cs typeface="Arial Bold"/>
                  <a:sym typeface="Arial Bold"/>
                </a:rPr>
                <a:t>138</a:t>
              </a:r>
            </a:p>
            <a:p>
              <a:pPr algn="ctr">
                <a:lnSpc>
                  <a:spcPts val="1644"/>
                </a:lnSpc>
              </a:pPr>
              <a:r>
                <a:rPr lang="en-US" sz="1370" b="true">
                  <a:solidFill>
                    <a:srgbClr val="1B3A6B"/>
                  </a:solidFill>
                  <a:latin typeface="Arial Bold"/>
                  <a:ea typeface="Arial Bold"/>
                  <a:cs typeface="Arial Bold"/>
                  <a:sym typeface="Arial Bold"/>
                </a:rPr>
                <a:t>Subjects</a:t>
              </a:r>
            </a:p>
          </p:txBody>
        </p:sp>
      </p:grpSp>
      <p:grpSp>
        <p:nvGrpSpPr>
          <p:cNvPr name="Group 32" id="32"/>
          <p:cNvGrpSpPr/>
          <p:nvPr/>
        </p:nvGrpSpPr>
        <p:grpSpPr>
          <a:xfrm rot="0">
            <a:off x="6935513" y="12062178"/>
            <a:ext cx="1870552" cy="874917"/>
            <a:chOff x="0" y="0"/>
            <a:chExt cx="2484958" cy="1162294"/>
          </a:xfrm>
        </p:grpSpPr>
        <p:sp>
          <p:nvSpPr>
            <p:cNvPr name="Freeform 33" id="33"/>
            <p:cNvSpPr/>
            <p:nvPr/>
          </p:nvSpPr>
          <p:spPr>
            <a:xfrm flipH="false" flipV="false" rot="0">
              <a:off x="0" y="0"/>
              <a:ext cx="2485009" cy="1162264"/>
            </a:xfrm>
            <a:custGeom>
              <a:avLst/>
              <a:gdLst/>
              <a:ahLst/>
              <a:cxnLst/>
              <a:rect r="r" b="b" t="t" l="l"/>
              <a:pathLst>
                <a:path h="1162264" w="2485009">
                  <a:moveTo>
                    <a:pt x="0" y="193728"/>
                  </a:moveTo>
                  <a:cubicBezTo>
                    <a:pt x="0" y="86745"/>
                    <a:pt x="108331" y="0"/>
                    <a:pt x="241935" y="0"/>
                  </a:cubicBezTo>
                  <a:lnTo>
                    <a:pt x="2243074" y="0"/>
                  </a:lnTo>
                  <a:cubicBezTo>
                    <a:pt x="2376678" y="0"/>
                    <a:pt x="2485009" y="86745"/>
                    <a:pt x="2485009" y="193728"/>
                  </a:cubicBezTo>
                  <a:lnTo>
                    <a:pt x="2485009" y="968536"/>
                  </a:lnTo>
                  <a:cubicBezTo>
                    <a:pt x="2485009" y="1075519"/>
                    <a:pt x="2376678" y="1162264"/>
                    <a:pt x="2243074" y="1162264"/>
                  </a:cubicBezTo>
                  <a:lnTo>
                    <a:pt x="241935" y="1162264"/>
                  </a:lnTo>
                  <a:cubicBezTo>
                    <a:pt x="108331" y="1162264"/>
                    <a:pt x="0" y="1075519"/>
                    <a:pt x="0" y="968536"/>
                  </a:cubicBezTo>
                  <a:close/>
                </a:path>
              </a:pathLst>
            </a:custGeom>
            <a:solidFill>
              <a:srgbClr val="E8EDF5"/>
            </a:solidFill>
          </p:spPr>
        </p:sp>
        <p:sp>
          <p:nvSpPr>
            <p:cNvPr name="TextBox 34" id="34"/>
            <p:cNvSpPr txBox="true"/>
            <p:nvPr/>
          </p:nvSpPr>
          <p:spPr>
            <a:xfrm>
              <a:off x="0" y="-19050"/>
              <a:ext cx="2484958" cy="1181344"/>
            </a:xfrm>
            <a:prstGeom prst="rect">
              <a:avLst/>
            </a:prstGeom>
          </p:spPr>
          <p:txBody>
            <a:bodyPr anchor="ctr" rtlCol="false" tIns="38667" lIns="38667" bIns="38667" rIns="38667"/>
            <a:lstStyle/>
            <a:p>
              <a:pPr algn="ctr">
                <a:lnSpc>
                  <a:spcPts val="1644"/>
                </a:lnSpc>
              </a:pPr>
              <a:r>
                <a:rPr lang="en-US" sz="1370" b="true">
                  <a:solidFill>
                    <a:srgbClr val="1B3A6B"/>
                  </a:solidFill>
                  <a:latin typeface="Arial Bold"/>
                  <a:ea typeface="Arial Bold"/>
                  <a:cs typeface="Arial Bold"/>
                  <a:sym typeface="Arial Bold"/>
                </a:rPr>
                <a:t>21–86</a:t>
              </a:r>
            </a:p>
            <a:p>
              <a:pPr algn="ctr">
                <a:lnSpc>
                  <a:spcPts val="1644"/>
                </a:lnSpc>
              </a:pPr>
              <a:r>
                <a:rPr lang="en-US" sz="1370" b="true">
                  <a:solidFill>
                    <a:srgbClr val="1B3A6B"/>
                  </a:solidFill>
                  <a:latin typeface="Arial Bold"/>
                  <a:ea typeface="Arial Bold"/>
                  <a:cs typeface="Arial Bold"/>
                  <a:sym typeface="Arial Bold"/>
                </a:rPr>
                <a:t>Age Range</a:t>
              </a:r>
            </a:p>
          </p:txBody>
        </p:sp>
      </p:grpSp>
      <p:grpSp>
        <p:nvGrpSpPr>
          <p:cNvPr name="Group 35" id="35"/>
          <p:cNvGrpSpPr/>
          <p:nvPr/>
        </p:nvGrpSpPr>
        <p:grpSpPr>
          <a:xfrm rot="0">
            <a:off x="10084545" y="12044140"/>
            <a:ext cx="1677250" cy="874917"/>
            <a:chOff x="0" y="0"/>
            <a:chExt cx="2228164" cy="1162294"/>
          </a:xfrm>
        </p:grpSpPr>
        <p:sp>
          <p:nvSpPr>
            <p:cNvPr name="Freeform 36" id="36"/>
            <p:cNvSpPr/>
            <p:nvPr/>
          </p:nvSpPr>
          <p:spPr>
            <a:xfrm flipH="false" flipV="false" rot="0">
              <a:off x="0" y="0"/>
              <a:ext cx="2228215" cy="1162409"/>
            </a:xfrm>
            <a:custGeom>
              <a:avLst/>
              <a:gdLst/>
              <a:ahLst/>
              <a:cxnLst/>
              <a:rect r="r" b="b" t="t" l="l"/>
              <a:pathLst>
                <a:path h="1162409" w="2228215">
                  <a:moveTo>
                    <a:pt x="0" y="193765"/>
                  </a:moveTo>
                  <a:cubicBezTo>
                    <a:pt x="0" y="86716"/>
                    <a:pt x="108331" y="0"/>
                    <a:pt x="242062" y="0"/>
                  </a:cubicBezTo>
                  <a:lnTo>
                    <a:pt x="1986153" y="0"/>
                  </a:lnTo>
                  <a:cubicBezTo>
                    <a:pt x="2119757" y="0"/>
                    <a:pt x="2228215" y="86716"/>
                    <a:pt x="2228215" y="193765"/>
                  </a:cubicBezTo>
                  <a:lnTo>
                    <a:pt x="2228215" y="968621"/>
                  </a:lnTo>
                  <a:cubicBezTo>
                    <a:pt x="2228215" y="1075568"/>
                    <a:pt x="2119884" y="1162409"/>
                    <a:pt x="1986153" y="1162409"/>
                  </a:cubicBezTo>
                  <a:lnTo>
                    <a:pt x="242062" y="1162409"/>
                  </a:lnTo>
                  <a:cubicBezTo>
                    <a:pt x="108331" y="1162284"/>
                    <a:pt x="0" y="1075568"/>
                    <a:pt x="0" y="968621"/>
                  </a:cubicBezTo>
                  <a:close/>
                </a:path>
              </a:pathLst>
            </a:custGeom>
            <a:solidFill>
              <a:srgbClr val="E8EDF5"/>
            </a:solidFill>
          </p:spPr>
        </p:sp>
        <p:sp>
          <p:nvSpPr>
            <p:cNvPr name="TextBox 37" id="37"/>
            <p:cNvSpPr txBox="true"/>
            <p:nvPr/>
          </p:nvSpPr>
          <p:spPr>
            <a:xfrm>
              <a:off x="0" y="-19050"/>
              <a:ext cx="2228164" cy="1181344"/>
            </a:xfrm>
            <a:prstGeom prst="rect">
              <a:avLst/>
            </a:prstGeom>
          </p:spPr>
          <p:txBody>
            <a:bodyPr anchor="ctr" rtlCol="false" tIns="38667" lIns="38667" bIns="38667" rIns="38667"/>
            <a:lstStyle/>
            <a:p>
              <a:pPr algn="ctr">
                <a:lnSpc>
                  <a:spcPts val="1644"/>
                </a:lnSpc>
              </a:pPr>
              <a:r>
                <a:rPr lang="en-US" sz="1370" b="true">
                  <a:solidFill>
                    <a:srgbClr val="1B3A6B"/>
                  </a:solidFill>
                  <a:latin typeface="Arial Bold"/>
                  <a:ea typeface="Arial Bold"/>
                  <a:cs typeface="Arial Bold"/>
                  <a:sym typeface="Arial Bold"/>
                </a:rPr>
                <a:t>100Hz</a:t>
              </a:r>
            </a:p>
            <a:p>
              <a:pPr algn="ctr">
                <a:lnSpc>
                  <a:spcPts val="1644"/>
                </a:lnSpc>
              </a:pPr>
              <a:r>
                <a:rPr lang="en-US" sz="1370" b="true">
                  <a:solidFill>
                    <a:srgbClr val="1B3A6B"/>
                  </a:solidFill>
                  <a:latin typeface="Arial Bold"/>
                  <a:ea typeface="Arial Bold"/>
                  <a:cs typeface="Arial Bold"/>
                  <a:sym typeface="Arial Bold"/>
                </a:rPr>
                <a:t>Capture</a:t>
              </a:r>
            </a:p>
          </p:txBody>
        </p:sp>
      </p:grpSp>
      <p:grpSp>
        <p:nvGrpSpPr>
          <p:cNvPr name="Group 38" id="38"/>
          <p:cNvGrpSpPr/>
          <p:nvPr/>
        </p:nvGrpSpPr>
        <p:grpSpPr>
          <a:xfrm rot="0">
            <a:off x="770088" y="18499401"/>
            <a:ext cx="7955449" cy="1818288"/>
            <a:chOff x="0" y="0"/>
            <a:chExt cx="10568516" cy="2415527"/>
          </a:xfrm>
        </p:grpSpPr>
        <p:sp>
          <p:nvSpPr>
            <p:cNvPr name="Freeform 39" id="39"/>
            <p:cNvSpPr/>
            <p:nvPr/>
          </p:nvSpPr>
          <p:spPr>
            <a:xfrm flipH="false" flipV="false" rot="0">
              <a:off x="0" y="0"/>
              <a:ext cx="10568499" cy="2415591"/>
            </a:xfrm>
            <a:custGeom>
              <a:avLst/>
              <a:gdLst/>
              <a:ahLst/>
              <a:cxnLst/>
              <a:rect r="r" b="b" t="t" l="l"/>
              <a:pathLst>
                <a:path h="2415591" w="10568499">
                  <a:moveTo>
                    <a:pt x="0" y="402632"/>
                  </a:moveTo>
                  <a:cubicBezTo>
                    <a:pt x="0" y="180298"/>
                    <a:pt x="284388" y="0"/>
                    <a:pt x="635079" y="0"/>
                  </a:cubicBezTo>
                  <a:lnTo>
                    <a:pt x="9933421" y="0"/>
                  </a:lnTo>
                  <a:cubicBezTo>
                    <a:pt x="10284276" y="0"/>
                    <a:pt x="10568499" y="180298"/>
                    <a:pt x="10568499" y="402632"/>
                  </a:cubicBezTo>
                  <a:lnTo>
                    <a:pt x="10568499" y="2012948"/>
                  </a:lnTo>
                  <a:cubicBezTo>
                    <a:pt x="10568499" y="2235281"/>
                    <a:pt x="10284111" y="2415591"/>
                    <a:pt x="9933421" y="2415591"/>
                  </a:cubicBezTo>
                  <a:lnTo>
                    <a:pt x="635079" y="2415591"/>
                  </a:lnTo>
                  <a:cubicBezTo>
                    <a:pt x="284388" y="2415475"/>
                    <a:pt x="0" y="2235281"/>
                    <a:pt x="0" y="2012948"/>
                  </a:cubicBezTo>
                  <a:close/>
                </a:path>
              </a:pathLst>
            </a:custGeom>
            <a:solidFill>
              <a:srgbClr val="FDE8E8"/>
            </a:solidFill>
            <a:ln w="19050" cap="sq">
              <a:solidFill>
                <a:srgbClr val="E74C3C"/>
              </a:solidFill>
              <a:prstDash val="solid"/>
              <a:miter/>
            </a:ln>
          </p:spPr>
        </p:sp>
      </p:grpSp>
      <p:grpSp>
        <p:nvGrpSpPr>
          <p:cNvPr name="Group 40" id="40"/>
          <p:cNvGrpSpPr/>
          <p:nvPr/>
        </p:nvGrpSpPr>
        <p:grpSpPr>
          <a:xfrm rot="132645">
            <a:off x="933568" y="18672931"/>
            <a:ext cx="646561" cy="655434"/>
            <a:chOff x="0" y="0"/>
            <a:chExt cx="858932" cy="870720"/>
          </a:xfrm>
        </p:grpSpPr>
        <p:sp>
          <p:nvSpPr>
            <p:cNvPr name="Freeform 41" id="41"/>
            <p:cNvSpPr/>
            <p:nvPr/>
          </p:nvSpPr>
          <p:spPr>
            <a:xfrm flipH="false" flipV="false" rot="0">
              <a:off x="0" y="0"/>
              <a:ext cx="858970" cy="870707"/>
            </a:xfrm>
            <a:custGeom>
              <a:avLst/>
              <a:gdLst/>
              <a:ahLst/>
              <a:cxnLst/>
              <a:rect r="r" b="b" t="t" l="l"/>
              <a:pathLst>
                <a:path h="870707" w="858970">
                  <a:moveTo>
                    <a:pt x="0" y="435354"/>
                  </a:moveTo>
                  <a:cubicBezTo>
                    <a:pt x="0" y="194944"/>
                    <a:pt x="192266" y="0"/>
                    <a:pt x="429486" y="0"/>
                  </a:cubicBezTo>
                  <a:cubicBezTo>
                    <a:pt x="666705" y="0"/>
                    <a:pt x="858970" y="194944"/>
                    <a:pt x="858970" y="435354"/>
                  </a:cubicBezTo>
                  <a:cubicBezTo>
                    <a:pt x="858970" y="675763"/>
                    <a:pt x="666705" y="870707"/>
                    <a:pt x="429486" y="870707"/>
                  </a:cubicBezTo>
                  <a:cubicBezTo>
                    <a:pt x="192266" y="870707"/>
                    <a:pt x="0" y="675763"/>
                    <a:pt x="0" y="435354"/>
                  </a:cubicBezTo>
                  <a:close/>
                </a:path>
              </a:pathLst>
            </a:custGeom>
            <a:solidFill>
              <a:srgbClr val="E74C3C"/>
            </a:solidFill>
          </p:spPr>
        </p:sp>
        <p:sp>
          <p:nvSpPr>
            <p:cNvPr name="TextBox 42" id="42"/>
            <p:cNvSpPr txBox="true"/>
            <p:nvPr/>
          </p:nvSpPr>
          <p:spPr>
            <a:xfrm>
              <a:off x="0" y="-9525"/>
              <a:ext cx="858932" cy="880245"/>
            </a:xfrm>
            <a:prstGeom prst="rect">
              <a:avLst/>
            </a:prstGeom>
          </p:spPr>
          <p:txBody>
            <a:bodyPr anchor="ctr" rtlCol="false" tIns="38667" lIns="38667" bIns="38667" rIns="38667"/>
            <a:lstStyle/>
            <a:p>
              <a:pPr algn="ctr">
                <a:lnSpc>
                  <a:spcPts val="1461"/>
                </a:lnSpc>
              </a:pPr>
              <a:r>
                <a:rPr lang="en-US" sz="1217" b="true">
                  <a:solidFill>
                    <a:srgbClr val="FFFFFF"/>
                  </a:solidFill>
                  <a:latin typeface="Arial Bold"/>
                  <a:ea typeface="Arial Bold"/>
                  <a:cs typeface="Arial Bold"/>
                  <a:sym typeface="Arial Bold"/>
                </a:rPr>
                <a:t>⚠</a:t>
              </a:r>
            </a:p>
          </p:txBody>
        </p:sp>
      </p:grpSp>
      <p:grpSp>
        <p:nvGrpSpPr>
          <p:cNvPr name="Group 43" id="43"/>
          <p:cNvGrpSpPr/>
          <p:nvPr/>
        </p:nvGrpSpPr>
        <p:grpSpPr>
          <a:xfrm rot="0">
            <a:off x="921167" y="19507655"/>
            <a:ext cx="646561" cy="655434"/>
            <a:chOff x="0" y="0"/>
            <a:chExt cx="858932" cy="870720"/>
          </a:xfrm>
        </p:grpSpPr>
        <p:sp>
          <p:nvSpPr>
            <p:cNvPr name="Freeform 44" id="44"/>
            <p:cNvSpPr/>
            <p:nvPr/>
          </p:nvSpPr>
          <p:spPr>
            <a:xfrm flipH="false" flipV="false" rot="0">
              <a:off x="0" y="0"/>
              <a:ext cx="858970" cy="870707"/>
            </a:xfrm>
            <a:custGeom>
              <a:avLst/>
              <a:gdLst/>
              <a:ahLst/>
              <a:cxnLst/>
              <a:rect r="r" b="b" t="t" l="l"/>
              <a:pathLst>
                <a:path h="870707" w="858970">
                  <a:moveTo>
                    <a:pt x="0" y="435354"/>
                  </a:moveTo>
                  <a:cubicBezTo>
                    <a:pt x="0" y="194944"/>
                    <a:pt x="192266" y="0"/>
                    <a:pt x="429486" y="0"/>
                  </a:cubicBezTo>
                  <a:cubicBezTo>
                    <a:pt x="666705" y="0"/>
                    <a:pt x="858970" y="194944"/>
                    <a:pt x="858970" y="435354"/>
                  </a:cubicBezTo>
                  <a:cubicBezTo>
                    <a:pt x="858970" y="675763"/>
                    <a:pt x="666705" y="870707"/>
                    <a:pt x="429486" y="870707"/>
                  </a:cubicBezTo>
                  <a:cubicBezTo>
                    <a:pt x="192266" y="870707"/>
                    <a:pt x="0" y="675763"/>
                    <a:pt x="0" y="435354"/>
                  </a:cubicBezTo>
                  <a:close/>
                </a:path>
              </a:pathLst>
            </a:custGeom>
            <a:solidFill>
              <a:srgbClr val="E67E22"/>
            </a:solidFill>
          </p:spPr>
        </p:sp>
        <p:sp>
          <p:nvSpPr>
            <p:cNvPr name="TextBox 45" id="45"/>
            <p:cNvSpPr txBox="true"/>
            <p:nvPr/>
          </p:nvSpPr>
          <p:spPr>
            <a:xfrm>
              <a:off x="0" y="-9525"/>
              <a:ext cx="858932" cy="880245"/>
            </a:xfrm>
            <a:prstGeom prst="rect">
              <a:avLst/>
            </a:prstGeom>
          </p:spPr>
          <p:txBody>
            <a:bodyPr anchor="ctr" rtlCol="false" tIns="38667" lIns="38667" bIns="38667" rIns="38667"/>
            <a:lstStyle/>
            <a:p>
              <a:pPr algn="ctr">
                <a:lnSpc>
                  <a:spcPts val="1461"/>
                </a:lnSpc>
              </a:pPr>
              <a:r>
                <a:rPr lang="en-US" sz="1217" b="true">
                  <a:solidFill>
                    <a:srgbClr val="FFFFFF"/>
                  </a:solidFill>
                  <a:latin typeface="Arial Bold"/>
                  <a:ea typeface="Arial Bold"/>
                  <a:cs typeface="Arial Bold"/>
                  <a:sym typeface="Arial Bold"/>
                </a:rPr>
                <a:t>⚠</a:t>
              </a:r>
            </a:p>
          </p:txBody>
        </p:sp>
      </p:grpSp>
      <p:grpSp>
        <p:nvGrpSpPr>
          <p:cNvPr name="Group 46" id="46"/>
          <p:cNvGrpSpPr/>
          <p:nvPr/>
        </p:nvGrpSpPr>
        <p:grpSpPr>
          <a:xfrm rot="0">
            <a:off x="770088" y="20414949"/>
            <a:ext cx="7955449" cy="1174739"/>
            <a:chOff x="0" y="0"/>
            <a:chExt cx="10568516" cy="1560596"/>
          </a:xfrm>
        </p:grpSpPr>
        <p:sp>
          <p:nvSpPr>
            <p:cNvPr name="Freeform 47" id="47"/>
            <p:cNvSpPr/>
            <p:nvPr/>
          </p:nvSpPr>
          <p:spPr>
            <a:xfrm flipH="false" flipV="false" rot="0">
              <a:off x="0" y="0"/>
              <a:ext cx="10568500" cy="1560647"/>
            </a:xfrm>
            <a:custGeom>
              <a:avLst/>
              <a:gdLst/>
              <a:ahLst/>
              <a:cxnLst/>
              <a:rect r="r" b="b" t="t" l="l"/>
              <a:pathLst>
                <a:path h="1560647" w="10568500">
                  <a:moveTo>
                    <a:pt x="0" y="260157"/>
                  </a:moveTo>
                  <a:cubicBezTo>
                    <a:pt x="0" y="116439"/>
                    <a:pt x="132355" y="0"/>
                    <a:pt x="295718" y="0"/>
                  </a:cubicBezTo>
                  <a:lnTo>
                    <a:pt x="10272781" y="0"/>
                  </a:lnTo>
                  <a:cubicBezTo>
                    <a:pt x="10436145" y="0"/>
                    <a:pt x="10568500" y="116439"/>
                    <a:pt x="10568500" y="260157"/>
                  </a:cubicBezTo>
                  <a:lnTo>
                    <a:pt x="10568500" y="1300497"/>
                  </a:lnTo>
                  <a:cubicBezTo>
                    <a:pt x="10568500" y="1444215"/>
                    <a:pt x="10436145" y="1560647"/>
                    <a:pt x="10272781" y="1560647"/>
                  </a:cubicBezTo>
                  <a:lnTo>
                    <a:pt x="295718" y="1560647"/>
                  </a:lnTo>
                  <a:cubicBezTo>
                    <a:pt x="132355" y="1560647"/>
                    <a:pt x="0" y="1444215"/>
                    <a:pt x="0" y="1300497"/>
                  </a:cubicBezTo>
                  <a:close/>
                </a:path>
              </a:pathLst>
            </a:custGeom>
            <a:solidFill>
              <a:srgbClr val="E8F8E8"/>
            </a:solidFill>
            <a:ln w="19050" cap="sq">
              <a:solidFill>
                <a:srgbClr val="27AE60"/>
              </a:solidFill>
              <a:prstDash val="solid"/>
              <a:miter/>
            </a:ln>
          </p:spPr>
        </p:sp>
      </p:grpSp>
      <p:grpSp>
        <p:nvGrpSpPr>
          <p:cNvPr name="Group 48" id="48"/>
          <p:cNvGrpSpPr/>
          <p:nvPr/>
        </p:nvGrpSpPr>
        <p:grpSpPr>
          <a:xfrm rot="0">
            <a:off x="933568" y="20674439"/>
            <a:ext cx="646561" cy="655434"/>
            <a:chOff x="0" y="0"/>
            <a:chExt cx="858932" cy="870720"/>
          </a:xfrm>
        </p:grpSpPr>
        <p:sp>
          <p:nvSpPr>
            <p:cNvPr name="Freeform 49" id="49"/>
            <p:cNvSpPr/>
            <p:nvPr/>
          </p:nvSpPr>
          <p:spPr>
            <a:xfrm flipH="false" flipV="false" rot="0">
              <a:off x="0" y="0"/>
              <a:ext cx="858970" cy="870707"/>
            </a:xfrm>
            <a:custGeom>
              <a:avLst/>
              <a:gdLst/>
              <a:ahLst/>
              <a:cxnLst/>
              <a:rect r="r" b="b" t="t" l="l"/>
              <a:pathLst>
                <a:path h="870707" w="858970">
                  <a:moveTo>
                    <a:pt x="0" y="435354"/>
                  </a:moveTo>
                  <a:cubicBezTo>
                    <a:pt x="0" y="194944"/>
                    <a:pt x="192266" y="0"/>
                    <a:pt x="429486" y="0"/>
                  </a:cubicBezTo>
                  <a:cubicBezTo>
                    <a:pt x="666705" y="0"/>
                    <a:pt x="858970" y="194944"/>
                    <a:pt x="858970" y="435354"/>
                  </a:cubicBezTo>
                  <a:cubicBezTo>
                    <a:pt x="858970" y="675763"/>
                    <a:pt x="666705" y="870707"/>
                    <a:pt x="429486" y="870707"/>
                  </a:cubicBezTo>
                  <a:cubicBezTo>
                    <a:pt x="192266" y="870707"/>
                    <a:pt x="0" y="675763"/>
                    <a:pt x="0" y="435354"/>
                  </a:cubicBezTo>
                  <a:close/>
                </a:path>
              </a:pathLst>
            </a:custGeom>
            <a:solidFill>
              <a:srgbClr val="27AE60"/>
            </a:solidFill>
          </p:spPr>
        </p:sp>
        <p:sp>
          <p:nvSpPr>
            <p:cNvPr name="TextBox 50" id="50"/>
            <p:cNvSpPr txBox="true"/>
            <p:nvPr/>
          </p:nvSpPr>
          <p:spPr>
            <a:xfrm>
              <a:off x="0" y="-9525"/>
              <a:ext cx="858932" cy="880245"/>
            </a:xfrm>
            <a:prstGeom prst="rect">
              <a:avLst/>
            </a:prstGeom>
          </p:spPr>
          <p:txBody>
            <a:bodyPr anchor="ctr" rtlCol="false" tIns="38667" lIns="38667" bIns="38667" rIns="38667"/>
            <a:lstStyle/>
            <a:p>
              <a:pPr algn="ctr">
                <a:lnSpc>
                  <a:spcPts val="1461"/>
                </a:lnSpc>
              </a:pPr>
              <a:r>
                <a:rPr lang="en-US" sz="1217" b="true">
                  <a:solidFill>
                    <a:srgbClr val="FFFFFF"/>
                  </a:solidFill>
                  <a:latin typeface="Arial Bold"/>
                  <a:ea typeface="Arial Bold"/>
                  <a:cs typeface="Arial Bold"/>
                  <a:sym typeface="Arial Bold"/>
                </a:rPr>
                <a:t>✓</a:t>
              </a:r>
            </a:p>
          </p:txBody>
        </p:sp>
      </p:grpSp>
      <p:grpSp>
        <p:nvGrpSpPr>
          <p:cNvPr name="Group 51" id="51"/>
          <p:cNvGrpSpPr/>
          <p:nvPr/>
        </p:nvGrpSpPr>
        <p:grpSpPr>
          <a:xfrm rot="0">
            <a:off x="969385" y="12026102"/>
            <a:ext cx="1959440" cy="910993"/>
            <a:chOff x="0" y="0"/>
            <a:chExt cx="2603043" cy="1210220"/>
          </a:xfrm>
        </p:grpSpPr>
        <p:sp>
          <p:nvSpPr>
            <p:cNvPr name="Freeform 52" id="52"/>
            <p:cNvSpPr/>
            <p:nvPr/>
          </p:nvSpPr>
          <p:spPr>
            <a:xfrm flipH="false" flipV="false" rot="0">
              <a:off x="0" y="0"/>
              <a:ext cx="2602992" cy="1210188"/>
            </a:xfrm>
            <a:custGeom>
              <a:avLst/>
              <a:gdLst/>
              <a:ahLst/>
              <a:cxnLst/>
              <a:rect r="r" b="b" t="t" l="l"/>
              <a:pathLst>
                <a:path h="1210188" w="2602992">
                  <a:moveTo>
                    <a:pt x="0" y="201716"/>
                  </a:moveTo>
                  <a:cubicBezTo>
                    <a:pt x="0" y="90322"/>
                    <a:pt x="108331" y="0"/>
                    <a:pt x="241935" y="0"/>
                  </a:cubicBezTo>
                  <a:lnTo>
                    <a:pt x="2361057" y="0"/>
                  </a:lnTo>
                  <a:cubicBezTo>
                    <a:pt x="2494661" y="0"/>
                    <a:pt x="2602992" y="90322"/>
                    <a:pt x="2602992" y="201716"/>
                  </a:cubicBezTo>
                  <a:lnTo>
                    <a:pt x="2602992" y="1008473"/>
                  </a:lnTo>
                  <a:cubicBezTo>
                    <a:pt x="2602992" y="1119866"/>
                    <a:pt x="2494661" y="1210188"/>
                    <a:pt x="2361057" y="1210188"/>
                  </a:cubicBezTo>
                  <a:lnTo>
                    <a:pt x="241935" y="1210188"/>
                  </a:lnTo>
                  <a:cubicBezTo>
                    <a:pt x="108331" y="1210188"/>
                    <a:pt x="0" y="1119866"/>
                    <a:pt x="0" y="1008473"/>
                  </a:cubicBezTo>
                  <a:close/>
                </a:path>
              </a:pathLst>
            </a:custGeom>
            <a:solidFill>
              <a:srgbClr val="E8EDF5"/>
            </a:solidFill>
          </p:spPr>
        </p:sp>
        <p:sp>
          <p:nvSpPr>
            <p:cNvPr name="TextBox 53" id="53"/>
            <p:cNvSpPr txBox="true"/>
            <p:nvPr/>
          </p:nvSpPr>
          <p:spPr>
            <a:xfrm>
              <a:off x="0" y="-19050"/>
              <a:ext cx="2603043" cy="1229270"/>
            </a:xfrm>
            <a:prstGeom prst="rect">
              <a:avLst/>
            </a:prstGeom>
          </p:spPr>
          <p:txBody>
            <a:bodyPr anchor="ctr" rtlCol="false" tIns="38667" lIns="38667" bIns="38667" rIns="38667"/>
            <a:lstStyle/>
            <a:p>
              <a:pPr algn="ctr">
                <a:lnSpc>
                  <a:spcPts val="1644"/>
                </a:lnSpc>
              </a:pPr>
              <a:r>
                <a:rPr lang="en-US" sz="1370" b="true">
                  <a:solidFill>
                    <a:srgbClr val="1B3A6B"/>
                  </a:solidFill>
                  <a:latin typeface="Arial Bold"/>
                  <a:ea typeface="Arial Bold"/>
                  <a:cs typeface="Arial Bold"/>
                  <a:sym typeface="Arial Bold"/>
                </a:rPr>
                <a:t>58 </a:t>
              </a:r>
            </a:p>
            <a:p>
              <a:pPr algn="ctr">
                <a:lnSpc>
                  <a:spcPts val="1644"/>
                </a:lnSpc>
              </a:pPr>
              <a:r>
                <a:rPr lang="en-US" sz="1370" b="true">
                  <a:solidFill>
                    <a:srgbClr val="1B3A6B"/>
                  </a:solidFill>
                  <a:latin typeface="Arial Bold"/>
                  <a:ea typeface="Arial Bold"/>
                  <a:cs typeface="Arial Bold"/>
                  <a:sym typeface="Arial Bold"/>
                </a:rPr>
                <a:t>Data Points</a:t>
              </a:r>
            </a:p>
          </p:txBody>
        </p:sp>
      </p:grpSp>
      <p:grpSp>
        <p:nvGrpSpPr>
          <p:cNvPr name="Group 54" id="54"/>
          <p:cNvGrpSpPr/>
          <p:nvPr/>
        </p:nvGrpSpPr>
        <p:grpSpPr>
          <a:xfrm rot="0">
            <a:off x="9204872" y="16706836"/>
            <a:ext cx="5499643" cy="5070186"/>
            <a:chOff x="0" y="0"/>
            <a:chExt cx="5476799" cy="5049126"/>
          </a:xfrm>
        </p:grpSpPr>
        <p:sp>
          <p:nvSpPr>
            <p:cNvPr name="Freeform 55" id="55"/>
            <p:cNvSpPr/>
            <p:nvPr/>
          </p:nvSpPr>
          <p:spPr>
            <a:xfrm flipH="false" flipV="false" rot="0">
              <a:off x="0" y="0"/>
              <a:ext cx="5476748" cy="5049139"/>
            </a:xfrm>
            <a:custGeom>
              <a:avLst/>
              <a:gdLst/>
              <a:ahLst/>
              <a:cxnLst/>
              <a:rect r="r" b="b" t="t" l="l"/>
              <a:pathLst>
                <a:path h="5049139" w="5476748">
                  <a:moveTo>
                    <a:pt x="0" y="0"/>
                  </a:moveTo>
                  <a:lnTo>
                    <a:pt x="5476748" y="0"/>
                  </a:lnTo>
                  <a:lnTo>
                    <a:pt x="5476748" y="5049139"/>
                  </a:lnTo>
                  <a:lnTo>
                    <a:pt x="0" y="5049139"/>
                  </a:lnTo>
                  <a:lnTo>
                    <a:pt x="0" y="0"/>
                  </a:lnTo>
                  <a:close/>
                </a:path>
              </a:pathLst>
            </a:custGeom>
            <a:blipFill>
              <a:blip r:embed="rId6"/>
              <a:stretch>
                <a:fillRect l="-2300" t="0" r="-2301" b="0"/>
              </a:stretch>
            </a:blipFill>
          </p:spPr>
        </p:sp>
      </p:grpSp>
      <p:grpSp>
        <p:nvGrpSpPr>
          <p:cNvPr name="Group 56" id="56"/>
          <p:cNvGrpSpPr/>
          <p:nvPr/>
        </p:nvGrpSpPr>
        <p:grpSpPr>
          <a:xfrm rot="0">
            <a:off x="15488963" y="12011381"/>
            <a:ext cx="5744244" cy="1171454"/>
            <a:chOff x="0" y="0"/>
            <a:chExt cx="6187647" cy="1261879"/>
          </a:xfrm>
        </p:grpSpPr>
        <p:sp>
          <p:nvSpPr>
            <p:cNvPr name="Freeform 57" id="57"/>
            <p:cNvSpPr/>
            <p:nvPr/>
          </p:nvSpPr>
          <p:spPr>
            <a:xfrm flipH="false" flipV="false" rot="0">
              <a:off x="0" y="0"/>
              <a:ext cx="6187737" cy="1261930"/>
            </a:xfrm>
            <a:custGeom>
              <a:avLst/>
              <a:gdLst/>
              <a:ahLst/>
              <a:cxnLst/>
              <a:rect r="r" b="b" t="t" l="l"/>
              <a:pathLst>
                <a:path h="1261930" w="6187737">
                  <a:moveTo>
                    <a:pt x="0" y="210332"/>
                  </a:moveTo>
                  <a:cubicBezTo>
                    <a:pt x="0" y="94183"/>
                    <a:pt x="115497" y="0"/>
                    <a:pt x="257929" y="0"/>
                  </a:cubicBezTo>
                  <a:lnTo>
                    <a:pt x="5929788" y="0"/>
                  </a:lnTo>
                  <a:cubicBezTo>
                    <a:pt x="6072221" y="0"/>
                    <a:pt x="6187737" y="94183"/>
                    <a:pt x="6187737" y="210332"/>
                  </a:cubicBezTo>
                  <a:lnTo>
                    <a:pt x="6187737" y="1051580"/>
                  </a:lnTo>
                  <a:cubicBezTo>
                    <a:pt x="6187737" y="1167729"/>
                    <a:pt x="6072221" y="1261930"/>
                    <a:pt x="5929788" y="1261930"/>
                  </a:cubicBezTo>
                  <a:lnTo>
                    <a:pt x="257929" y="1261930"/>
                  </a:lnTo>
                  <a:cubicBezTo>
                    <a:pt x="115497" y="1261930"/>
                    <a:pt x="0" y="1167729"/>
                    <a:pt x="0" y="1051580"/>
                  </a:cubicBezTo>
                  <a:close/>
                </a:path>
              </a:pathLst>
            </a:custGeom>
            <a:solidFill>
              <a:srgbClr val="FFF8E1"/>
            </a:solidFill>
            <a:ln w="31750" cap="sq">
              <a:solidFill>
                <a:srgbClr val="F9A825"/>
              </a:solidFill>
              <a:prstDash val="solid"/>
              <a:miter/>
            </a:ln>
          </p:spPr>
        </p:sp>
      </p:grpSp>
      <p:grpSp>
        <p:nvGrpSpPr>
          <p:cNvPr name="Group 58" id="58"/>
          <p:cNvGrpSpPr/>
          <p:nvPr/>
        </p:nvGrpSpPr>
        <p:grpSpPr>
          <a:xfrm rot="0">
            <a:off x="21747468" y="15489637"/>
            <a:ext cx="8002443" cy="1016677"/>
            <a:chOff x="0" y="0"/>
            <a:chExt cx="6782855" cy="861733"/>
          </a:xfrm>
        </p:grpSpPr>
        <p:sp>
          <p:nvSpPr>
            <p:cNvPr name="Freeform 59" id="59"/>
            <p:cNvSpPr/>
            <p:nvPr/>
          </p:nvSpPr>
          <p:spPr>
            <a:xfrm flipH="false" flipV="false" rot="0">
              <a:off x="0" y="0"/>
              <a:ext cx="6782855" cy="861695"/>
            </a:xfrm>
            <a:custGeom>
              <a:avLst/>
              <a:gdLst/>
              <a:ahLst/>
              <a:cxnLst/>
              <a:rect r="r" b="b" t="t" l="l"/>
              <a:pathLst>
                <a:path h="861695" w="6782855">
                  <a:moveTo>
                    <a:pt x="0" y="143637"/>
                  </a:moveTo>
                  <a:cubicBezTo>
                    <a:pt x="0" y="64262"/>
                    <a:pt x="50150" y="0"/>
                    <a:pt x="112094" y="0"/>
                  </a:cubicBezTo>
                  <a:lnTo>
                    <a:pt x="6670760" y="0"/>
                  </a:lnTo>
                  <a:cubicBezTo>
                    <a:pt x="6732705" y="0"/>
                    <a:pt x="6782855" y="64262"/>
                    <a:pt x="6782855" y="143637"/>
                  </a:cubicBezTo>
                  <a:lnTo>
                    <a:pt x="6782855" y="718058"/>
                  </a:lnTo>
                  <a:cubicBezTo>
                    <a:pt x="6782855" y="797433"/>
                    <a:pt x="6732705" y="861695"/>
                    <a:pt x="6670760" y="861695"/>
                  </a:cubicBezTo>
                  <a:lnTo>
                    <a:pt x="112094" y="861695"/>
                  </a:lnTo>
                  <a:cubicBezTo>
                    <a:pt x="50150" y="861695"/>
                    <a:pt x="0" y="797433"/>
                    <a:pt x="0" y="718058"/>
                  </a:cubicBezTo>
                  <a:close/>
                </a:path>
              </a:pathLst>
            </a:custGeom>
            <a:solidFill>
              <a:srgbClr val="F5F5F5"/>
            </a:solidFill>
            <a:ln w="12700" cap="sq">
              <a:solidFill>
                <a:srgbClr val="CCCCCC"/>
              </a:solidFill>
              <a:prstDash val="solid"/>
              <a:miter/>
            </a:ln>
          </p:spPr>
        </p:sp>
      </p:grpSp>
      <p:grpSp>
        <p:nvGrpSpPr>
          <p:cNvPr name="Group 60" id="60"/>
          <p:cNvGrpSpPr/>
          <p:nvPr/>
        </p:nvGrpSpPr>
        <p:grpSpPr>
          <a:xfrm rot="0">
            <a:off x="15371669" y="4490711"/>
            <a:ext cx="14547392" cy="853331"/>
            <a:chOff x="0" y="0"/>
            <a:chExt cx="15670319" cy="919200"/>
          </a:xfrm>
        </p:grpSpPr>
        <p:sp>
          <p:nvSpPr>
            <p:cNvPr name="Freeform 61" id="61"/>
            <p:cNvSpPr/>
            <p:nvPr/>
          </p:nvSpPr>
          <p:spPr>
            <a:xfrm flipH="false" flipV="false" rot="0">
              <a:off x="0" y="0"/>
              <a:ext cx="15670267" cy="919099"/>
            </a:xfrm>
            <a:custGeom>
              <a:avLst/>
              <a:gdLst/>
              <a:ahLst/>
              <a:cxnLst/>
              <a:rect r="r" b="b" t="t" l="l"/>
              <a:pathLst>
                <a:path h="919099" w="15670267">
                  <a:moveTo>
                    <a:pt x="0" y="153162"/>
                  </a:moveTo>
                  <a:cubicBezTo>
                    <a:pt x="0" y="68580"/>
                    <a:pt x="47352" y="0"/>
                    <a:pt x="105753" y="0"/>
                  </a:cubicBezTo>
                  <a:lnTo>
                    <a:pt x="15564514" y="0"/>
                  </a:lnTo>
                  <a:cubicBezTo>
                    <a:pt x="15622915" y="0"/>
                    <a:pt x="15670267" y="68580"/>
                    <a:pt x="15670267" y="153162"/>
                  </a:cubicBezTo>
                  <a:lnTo>
                    <a:pt x="15670267" y="765937"/>
                  </a:lnTo>
                  <a:cubicBezTo>
                    <a:pt x="15670267" y="850518"/>
                    <a:pt x="15622915" y="919098"/>
                    <a:pt x="15564514" y="919098"/>
                  </a:cubicBezTo>
                  <a:lnTo>
                    <a:pt x="105753" y="919098"/>
                  </a:lnTo>
                  <a:cubicBezTo>
                    <a:pt x="47352" y="919225"/>
                    <a:pt x="0" y="850645"/>
                    <a:pt x="0" y="765937"/>
                  </a:cubicBezTo>
                  <a:close/>
                </a:path>
              </a:pathLst>
            </a:custGeom>
            <a:solidFill>
              <a:srgbClr val="1B3A6B"/>
            </a:solidFill>
          </p:spPr>
        </p:sp>
        <p:sp>
          <p:nvSpPr>
            <p:cNvPr name="TextBox 62" id="62"/>
            <p:cNvSpPr txBox="true"/>
            <p:nvPr/>
          </p:nvSpPr>
          <p:spPr>
            <a:xfrm>
              <a:off x="0" y="-19050"/>
              <a:ext cx="15670319" cy="938250"/>
            </a:xfrm>
            <a:prstGeom prst="rect">
              <a:avLst/>
            </a:prstGeom>
          </p:spPr>
          <p:txBody>
            <a:bodyPr anchor="ctr" rtlCol="false" tIns="50800" lIns="50800" bIns="50800" rIns="50800"/>
            <a:lstStyle/>
            <a:p>
              <a:pPr algn="l">
                <a:lnSpc>
                  <a:spcPts val="3359"/>
                </a:lnSpc>
              </a:pPr>
              <a:r>
                <a:rPr lang="en-US" sz="2799" b="true">
                  <a:solidFill>
                    <a:srgbClr val="FFFFFF"/>
                  </a:solidFill>
                  <a:latin typeface="Arial Bold"/>
                  <a:ea typeface="Arial Bold"/>
                  <a:cs typeface="Arial Bold"/>
                  <a:sym typeface="Arial Bold"/>
                </a:rPr>
                <a:t> </a:t>
              </a:r>
              <a:r>
                <a:rPr lang="en-US" sz="2799" b="true">
                  <a:solidFill>
                    <a:srgbClr val="FFFFFF"/>
                  </a:solidFill>
                  <a:latin typeface="Arial Bold"/>
                  <a:ea typeface="Arial Bold"/>
                  <a:cs typeface="Arial Bold"/>
                  <a:sym typeface="Arial Bold"/>
                </a:rPr>
                <a:t>Model Architecture</a:t>
              </a:r>
            </a:p>
          </p:txBody>
        </p:sp>
      </p:grpSp>
      <p:grpSp>
        <p:nvGrpSpPr>
          <p:cNvPr name="Group 63" id="63"/>
          <p:cNvGrpSpPr/>
          <p:nvPr/>
        </p:nvGrpSpPr>
        <p:grpSpPr>
          <a:xfrm rot="0">
            <a:off x="21792595" y="13015112"/>
            <a:ext cx="7909713" cy="1016677"/>
            <a:chOff x="0" y="0"/>
            <a:chExt cx="6704257" cy="861733"/>
          </a:xfrm>
        </p:grpSpPr>
        <p:sp>
          <p:nvSpPr>
            <p:cNvPr name="Freeform 64" id="64"/>
            <p:cNvSpPr/>
            <p:nvPr/>
          </p:nvSpPr>
          <p:spPr>
            <a:xfrm flipH="false" flipV="false" rot="0">
              <a:off x="0" y="0"/>
              <a:ext cx="6704257" cy="861695"/>
            </a:xfrm>
            <a:custGeom>
              <a:avLst/>
              <a:gdLst/>
              <a:ahLst/>
              <a:cxnLst/>
              <a:rect r="r" b="b" t="t" l="l"/>
              <a:pathLst>
                <a:path h="861695" w="6704257">
                  <a:moveTo>
                    <a:pt x="0" y="143637"/>
                  </a:moveTo>
                  <a:cubicBezTo>
                    <a:pt x="0" y="64262"/>
                    <a:pt x="49569" y="0"/>
                    <a:pt x="110796" y="0"/>
                  </a:cubicBezTo>
                  <a:lnTo>
                    <a:pt x="6593462" y="0"/>
                  </a:lnTo>
                  <a:cubicBezTo>
                    <a:pt x="6654688" y="0"/>
                    <a:pt x="6704257" y="64262"/>
                    <a:pt x="6704257" y="143637"/>
                  </a:cubicBezTo>
                  <a:lnTo>
                    <a:pt x="6704257" y="718058"/>
                  </a:lnTo>
                  <a:cubicBezTo>
                    <a:pt x="6704257" y="797433"/>
                    <a:pt x="6654688" y="861695"/>
                    <a:pt x="6593462" y="861695"/>
                  </a:cubicBezTo>
                  <a:lnTo>
                    <a:pt x="110796" y="861695"/>
                  </a:lnTo>
                  <a:cubicBezTo>
                    <a:pt x="49569" y="861695"/>
                    <a:pt x="0" y="797433"/>
                    <a:pt x="0" y="718058"/>
                  </a:cubicBezTo>
                  <a:close/>
                </a:path>
              </a:pathLst>
            </a:custGeom>
            <a:solidFill>
              <a:srgbClr val="F5F5F5"/>
            </a:solidFill>
            <a:ln w="12700" cap="sq">
              <a:solidFill>
                <a:srgbClr val="CCCCCC"/>
              </a:solidFill>
              <a:prstDash val="solid"/>
              <a:miter/>
            </a:ln>
          </p:spPr>
        </p:sp>
      </p:grpSp>
      <p:grpSp>
        <p:nvGrpSpPr>
          <p:cNvPr name="Group 65" id="65"/>
          <p:cNvGrpSpPr/>
          <p:nvPr/>
        </p:nvGrpSpPr>
        <p:grpSpPr>
          <a:xfrm rot="0">
            <a:off x="20817162" y="13161006"/>
            <a:ext cx="9971516" cy="724303"/>
            <a:chOff x="0" y="0"/>
            <a:chExt cx="8451837" cy="613918"/>
          </a:xfrm>
        </p:grpSpPr>
        <p:sp>
          <p:nvSpPr>
            <p:cNvPr name="Freeform 66" id="66"/>
            <p:cNvSpPr/>
            <p:nvPr/>
          </p:nvSpPr>
          <p:spPr>
            <a:xfrm flipH="false" flipV="false" rot="0">
              <a:off x="0" y="0"/>
              <a:ext cx="8451850" cy="613918"/>
            </a:xfrm>
            <a:custGeom>
              <a:avLst/>
              <a:gdLst/>
              <a:ahLst/>
              <a:cxnLst/>
              <a:rect r="r" b="b" t="t" l="l"/>
              <a:pathLst>
                <a:path h="613918" w="8451850">
                  <a:moveTo>
                    <a:pt x="0" y="0"/>
                  </a:moveTo>
                  <a:lnTo>
                    <a:pt x="8451850" y="0"/>
                  </a:lnTo>
                  <a:lnTo>
                    <a:pt x="8451850" y="613918"/>
                  </a:lnTo>
                  <a:lnTo>
                    <a:pt x="0" y="613918"/>
                  </a:lnTo>
                  <a:close/>
                </a:path>
              </a:pathLst>
            </a:custGeom>
            <a:blipFill>
              <a:blip r:embed="rId7"/>
              <a:stretch>
                <a:fillRect l="-2148" t="0" r="-2148" b="0"/>
              </a:stretch>
            </a:blipFill>
          </p:spPr>
        </p:sp>
        <p:sp>
          <p:nvSpPr>
            <p:cNvPr name="TextBox 67" id="67"/>
            <p:cNvSpPr txBox="true"/>
            <p:nvPr/>
          </p:nvSpPr>
          <p:spPr>
            <a:xfrm>
              <a:off x="0" y="-28575"/>
              <a:ext cx="8451837" cy="642493"/>
            </a:xfrm>
            <a:prstGeom prst="rect">
              <a:avLst/>
            </a:prstGeom>
          </p:spPr>
          <p:txBody>
            <a:bodyPr anchor="t" rtlCol="false" tIns="50800" lIns="50800" bIns="50800" rIns="50800"/>
            <a:lstStyle/>
            <a:p>
              <a:pPr algn="l">
                <a:lnSpc>
                  <a:spcPts val="6876"/>
                </a:lnSpc>
              </a:pPr>
              <a:r>
                <a:rPr lang="en-US" sz="5730">
                  <a:solidFill>
                    <a:srgbClr val="FFFFFF"/>
                  </a:solidFill>
                  <a:latin typeface="Arial"/>
                  <a:ea typeface="Arial"/>
                  <a:cs typeface="Arial"/>
                  <a:sym typeface="Arial"/>
                </a:rPr>
                <a:t> </a:t>
              </a:r>
            </a:p>
          </p:txBody>
        </p:sp>
      </p:grpSp>
      <p:grpSp>
        <p:nvGrpSpPr>
          <p:cNvPr name="Group 68" id="68"/>
          <p:cNvGrpSpPr/>
          <p:nvPr/>
        </p:nvGrpSpPr>
        <p:grpSpPr>
          <a:xfrm rot="0">
            <a:off x="21726615" y="14193713"/>
            <a:ext cx="7975693" cy="1230306"/>
            <a:chOff x="0" y="0"/>
            <a:chExt cx="6760182" cy="1042805"/>
          </a:xfrm>
        </p:grpSpPr>
        <p:sp>
          <p:nvSpPr>
            <p:cNvPr name="Freeform 69" id="69"/>
            <p:cNvSpPr/>
            <p:nvPr/>
          </p:nvSpPr>
          <p:spPr>
            <a:xfrm flipH="false" flipV="false" rot="0">
              <a:off x="0" y="0"/>
              <a:ext cx="6760187" cy="1042801"/>
            </a:xfrm>
            <a:custGeom>
              <a:avLst/>
              <a:gdLst/>
              <a:ahLst/>
              <a:cxnLst/>
              <a:rect r="r" b="b" t="t" l="l"/>
              <a:pathLst>
                <a:path h="1042801" w="6760187">
                  <a:moveTo>
                    <a:pt x="0" y="0"/>
                  </a:moveTo>
                  <a:lnTo>
                    <a:pt x="6760187" y="0"/>
                  </a:lnTo>
                  <a:lnTo>
                    <a:pt x="6760187" y="1042801"/>
                  </a:lnTo>
                  <a:lnTo>
                    <a:pt x="0" y="1042801"/>
                  </a:lnTo>
                  <a:close/>
                </a:path>
              </a:pathLst>
            </a:custGeom>
            <a:blipFill>
              <a:blip r:embed="rId3">
                <a:alphaModFix amt="0"/>
              </a:blip>
              <a:stretch>
                <a:fillRect l="0" t="-120474" r="-31087" b="-110693"/>
              </a:stretch>
            </a:blipFill>
          </p:spPr>
        </p:sp>
        <p:sp>
          <p:nvSpPr>
            <p:cNvPr name="TextBox 70" id="70"/>
            <p:cNvSpPr txBox="true"/>
            <p:nvPr/>
          </p:nvSpPr>
          <p:spPr>
            <a:xfrm>
              <a:off x="0" y="0"/>
              <a:ext cx="6760182" cy="1042805"/>
            </a:xfrm>
            <a:prstGeom prst="rect">
              <a:avLst/>
            </a:prstGeom>
          </p:spPr>
          <p:txBody>
            <a:bodyPr anchor="ctr" rtlCol="false" tIns="0" lIns="0" bIns="0" rIns="0"/>
            <a:lstStyle/>
            <a:p>
              <a:pPr algn="just">
                <a:lnSpc>
                  <a:spcPts val="2279"/>
                </a:lnSpc>
              </a:pPr>
              <a:r>
                <a:rPr lang="en-US" sz="1899">
                  <a:solidFill>
                    <a:srgbClr val="4A4A4A"/>
                  </a:solidFill>
                  <a:latin typeface="Noto Sans"/>
                  <a:ea typeface="Noto Sans"/>
                  <a:cs typeface="Noto Sans"/>
                  <a:sym typeface="Noto Sans"/>
                </a:rPr>
                <a:t>where </a:t>
              </a:r>
              <a:r>
                <a:rPr lang="en-US" sz="1899" i="true">
                  <a:solidFill>
                    <a:srgbClr val="4A4A4A"/>
                  </a:solidFill>
                  <a:latin typeface="Noto Sans Italics"/>
                  <a:ea typeface="Noto Sans Italics"/>
                  <a:cs typeface="Noto Sans Italics"/>
                  <a:sym typeface="Noto Sans Italics"/>
                </a:rPr>
                <a:t>xt ∈ ℝB × T × ²⁶³</a:t>
              </a:r>
              <a:r>
                <a:rPr lang="en-US" sz="1899">
                  <a:solidFill>
                    <a:srgbClr val="4A4A4A"/>
                  </a:solidFill>
                  <a:latin typeface="Noto Sans"/>
                  <a:ea typeface="Noto Sans"/>
                  <a:cs typeface="Noto Sans"/>
                  <a:sym typeface="Noto Sans"/>
                </a:rPr>
                <a:t> is the noisy motion sequence. Age conditioning is injected by concatenating discrete age token with the text embedding in the cross-attention layers of the denoising transformer. The training objective minimizes the simple noise-prediction loss:</a:t>
              </a:r>
            </a:p>
          </p:txBody>
        </p:sp>
      </p:grpSp>
      <p:grpSp>
        <p:nvGrpSpPr>
          <p:cNvPr name="Group 71" id="71"/>
          <p:cNvGrpSpPr/>
          <p:nvPr/>
        </p:nvGrpSpPr>
        <p:grpSpPr>
          <a:xfrm rot="0">
            <a:off x="21445365" y="15709730"/>
            <a:ext cx="8780581" cy="587264"/>
            <a:chOff x="0" y="0"/>
            <a:chExt cx="7442403" cy="497764"/>
          </a:xfrm>
        </p:grpSpPr>
        <p:sp>
          <p:nvSpPr>
            <p:cNvPr name="Freeform 72" id="72"/>
            <p:cNvSpPr/>
            <p:nvPr/>
          </p:nvSpPr>
          <p:spPr>
            <a:xfrm flipH="false" flipV="false" rot="0">
              <a:off x="0" y="0"/>
              <a:ext cx="7442454" cy="497713"/>
            </a:xfrm>
            <a:custGeom>
              <a:avLst/>
              <a:gdLst/>
              <a:ahLst/>
              <a:cxnLst/>
              <a:rect r="r" b="b" t="t" l="l"/>
              <a:pathLst>
                <a:path h="497713" w="7442454">
                  <a:moveTo>
                    <a:pt x="0" y="0"/>
                  </a:moveTo>
                  <a:lnTo>
                    <a:pt x="7442454" y="0"/>
                  </a:lnTo>
                  <a:lnTo>
                    <a:pt x="7442454" y="497713"/>
                  </a:lnTo>
                  <a:lnTo>
                    <a:pt x="0" y="497713"/>
                  </a:lnTo>
                  <a:close/>
                </a:path>
              </a:pathLst>
            </a:custGeom>
            <a:blipFill>
              <a:blip r:embed="rId8"/>
              <a:stretch>
                <a:fillRect l="-2105" t="0" r="-2104" b="-10"/>
              </a:stretch>
            </a:blipFill>
          </p:spPr>
        </p:sp>
        <p:sp>
          <p:nvSpPr>
            <p:cNvPr name="TextBox 73" id="73"/>
            <p:cNvSpPr txBox="true"/>
            <p:nvPr/>
          </p:nvSpPr>
          <p:spPr>
            <a:xfrm>
              <a:off x="0" y="-28575"/>
              <a:ext cx="7442403" cy="526339"/>
            </a:xfrm>
            <a:prstGeom prst="rect">
              <a:avLst/>
            </a:prstGeom>
          </p:spPr>
          <p:txBody>
            <a:bodyPr anchor="t" rtlCol="false" tIns="50800" lIns="50800" bIns="50800" rIns="50800"/>
            <a:lstStyle/>
            <a:p>
              <a:pPr algn="l">
                <a:lnSpc>
                  <a:spcPts val="6876"/>
                </a:lnSpc>
              </a:pPr>
              <a:r>
                <a:rPr lang="en-US" sz="5730">
                  <a:solidFill>
                    <a:srgbClr val="FFFFFF"/>
                  </a:solidFill>
                  <a:latin typeface="Arial"/>
                  <a:ea typeface="Arial"/>
                  <a:cs typeface="Arial"/>
                  <a:sym typeface="Arial"/>
                </a:rPr>
                <a:t> </a:t>
              </a:r>
            </a:p>
          </p:txBody>
        </p:sp>
      </p:grpSp>
      <p:grpSp>
        <p:nvGrpSpPr>
          <p:cNvPr name="Group 74" id="74"/>
          <p:cNvGrpSpPr/>
          <p:nvPr/>
        </p:nvGrpSpPr>
        <p:grpSpPr>
          <a:xfrm rot="0">
            <a:off x="15488963" y="5399278"/>
            <a:ext cx="13966139" cy="1516056"/>
            <a:chOff x="0" y="0"/>
            <a:chExt cx="15044198" cy="1633082"/>
          </a:xfrm>
        </p:grpSpPr>
        <p:sp>
          <p:nvSpPr>
            <p:cNvPr name="Freeform 75" id="75"/>
            <p:cNvSpPr/>
            <p:nvPr/>
          </p:nvSpPr>
          <p:spPr>
            <a:xfrm flipH="false" flipV="false" rot="0">
              <a:off x="0" y="0"/>
              <a:ext cx="15044203" cy="1633076"/>
            </a:xfrm>
            <a:custGeom>
              <a:avLst/>
              <a:gdLst/>
              <a:ahLst/>
              <a:cxnLst/>
              <a:rect r="r" b="b" t="t" l="l"/>
              <a:pathLst>
                <a:path h="1633076" w="15044203">
                  <a:moveTo>
                    <a:pt x="0" y="0"/>
                  </a:moveTo>
                  <a:lnTo>
                    <a:pt x="15044203" y="0"/>
                  </a:lnTo>
                  <a:lnTo>
                    <a:pt x="15044203" y="1633076"/>
                  </a:lnTo>
                  <a:lnTo>
                    <a:pt x="0" y="1633076"/>
                  </a:lnTo>
                  <a:close/>
                </a:path>
              </a:pathLst>
            </a:custGeom>
            <a:blipFill>
              <a:blip r:embed="rId3">
                <a:alphaModFix amt="0"/>
              </a:blip>
              <a:stretch>
                <a:fillRect l="0" t="-100535" r="21099" b="-82716"/>
              </a:stretch>
            </a:blipFill>
          </p:spPr>
        </p:sp>
        <p:sp>
          <p:nvSpPr>
            <p:cNvPr name="TextBox 76" id="76"/>
            <p:cNvSpPr txBox="true"/>
            <p:nvPr/>
          </p:nvSpPr>
          <p:spPr>
            <a:xfrm>
              <a:off x="0" y="0"/>
              <a:ext cx="15044198" cy="1633082"/>
            </a:xfrm>
            <a:prstGeom prst="rect">
              <a:avLst/>
            </a:prstGeom>
          </p:spPr>
          <p:txBody>
            <a:bodyPr anchor="ctr" rtlCol="false" tIns="0" lIns="0" bIns="0" rIns="0"/>
            <a:lstStyle/>
            <a:p>
              <a:pPr algn="just">
                <a:lnSpc>
                  <a:spcPts val="2279"/>
                </a:lnSpc>
              </a:pPr>
              <a:r>
                <a:rPr lang="en-US" sz="1899">
                  <a:solidFill>
                    <a:srgbClr val="4A4A4A"/>
                  </a:solidFill>
                  <a:latin typeface="Noto Sans"/>
                  <a:ea typeface="Noto Sans"/>
                  <a:cs typeface="Noto Sans"/>
                  <a:sym typeface="Noto Sans"/>
                </a:rPr>
                <a:t>A </a:t>
              </a:r>
              <a:r>
                <a:rPr lang="en-US" sz="1899" b="true">
                  <a:solidFill>
                    <a:srgbClr val="363636"/>
                  </a:solidFill>
                  <a:latin typeface="Noto Sans Bold"/>
                  <a:ea typeface="Noto Sans Bold"/>
                  <a:cs typeface="Noto Sans Bold"/>
                  <a:sym typeface="Noto Sans Bold"/>
                </a:rPr>
                <a:t>Spatio-Temporal Graph Convolutional Network </a:t>
              </a:r>
              <a:r>
                <a:rPr lang="en-US" sz="1899">
                  <a:solidFill>
                    <a:srgbClr val="4A4A4A"/>
                  </a:solidFill>
                  <a:latin typeface="Noto Sans"/>
                  <a:ea typeface="Noto Sans"/>
                  <a:cs typeface="Noto Sans"/>
                  <a:sym typeface="Noto Sans"/>
                </a:rPr>
                <a:t>trained to discriminate between three age groups: Young (&lt;30), Mid-age (30–60), and Elderly (&gt;60) from skeleton motion.</a:t>
              </a:r>
            </a:p>
            <a:p>
              <a:pPr algn="just">
                <a:lnSpc>
                  <a:spcPts val="2279"/>
                </a:lnSpc>
              </a:pPr>
            </a:p>
            <a:p>
              <a:pPr algn="just">
                <a:lnSpc>
                  <a:spcPts val="2279"/>
                </a:lnSpc>
              </a:pPr>
              <a:r>
                <a:rPr lang="en-US" sz="1899">
                  <a:solidFill>
                    <a:srgbClr val="4A4A4A"/>
                  </a:solidFill>
                  <a:latin typeface="Noto Sans"/>
                  <a:ea typeface="Noto Sans"/>
                  <a:cs typeface="Noto Sans"/>
                  <a:sym typeface="Noto Sans"/>
                </a:rPr>
                <a:t>The backbone is initialized from weights pretrained on NTU RGB+D, while the modified classifier head is retrained on Van Criekinge data. </a:t>
              </a:r>
            </a:p>
          </p:txBody>
        </p:sp>
      </p:grpSp>
      <p:grpSp>
        <p:nvGrpSpPr>
          <p:cNvPr name="Group 77" id="77"/>
          <p:cNvGrpSpPr/>
          <p:nvPr/>
        </p:nvGrpSpPr>
        <p:grpSpPr>
          <a:xfrm rot="0">
            <a:off x="16254359" y="13241784"/>
            <a:ext cx="4067626" cy="3335987"/>
            <a:chOff x="0" y="0"/>
            <a:chExt cx="5798884" cy="4755845"/>
          </a:xfrm>
        </p:grpSpPr>
        <p:sp>
          <p:nvSpPr>
            <p:cNvPr name="Freeform 78" id="78"/>
            <p:cNvSpPr/>
            <p:nvPr/>
          </p:nvSpPr>
          <p:spPr>
            <a:xfrm flipH="false" flipV="false" rot="0">
              <a:off x="0" y="0"/>
              <a:ext cx="5798820" cy="4755896"/>
            </a:xfrm>
            <a:custGeom>
              <a:avLst/>
              <a:gdLst/>
              <a:ahLst/>
              <a:cxnLst/>
              <a:rect r="r" b="b" t="t" l="l"/>
              <a:pathLst>
                <a:path h="4755896" w="5798820">
                  <a:moveTo>
                    <a:pt x="0" y="0"/>
                  </a:moveTo>
                  <a:lnTo>
                    <a:pt x="5798820" y="0"/>
                  </a:lnTo>
                  <a:lnTo>
                    <a:pt x="5798820" y="4755896"/>
                  </a:lnTo>
                  <a:lnTo>
                    <a:pt x="0" y="4755896"/>
                  </a:lnTo>
                  <a:lnTo>
                    <a:pt x="0" y="0"/>
                  </a:lnTo>
                  <a:close/>
                </a:path>
              </a:pathLst>
            </a:custGeom>
            <a:blipFill>
              <a:blip r:embed="rId9"/>
              <a:stretch>
                <a:fillRect l="0" t="-20532" r="-4594" b="1"/>
              </a:stretch>
            </a:blipFill>
          </p:spPr>
        </p:sp>
      </p:grpSp>
      <p:sp>
        <p:nvSpPr>
          <p:cNvPr name="Freeform 79" id="79"/>
          <p:cNvSpPr/>
          <p:nvPr/>
        </p:nvSpPr>
        <p:spPr>
          <a:xfrm flipH="false" flipV="false" rot="0">
            <a:off x="15488963" y="17303287"/>
            <a:ext cx="14417213" cy="4631530"/>
          </a:xfrm>
          <a:custGeom>
            <a:avLst/>
            <a:gdLst/>
            <a:ahLst/>
            <a:cxnLst/>
            <a:rect r="r" b="b" t="t" l="l"/>
            <a:pathLst>
              <a:path h="4631530" w="14417213">
                <a:moveTo>
                  <a:pt x="0" y="0"/>
                </a:moveTo>
                <a:lnTo>
                  <a:pt x="14417214" y="0"/>
                </a:lnTo>
                <a:lnTo>
                  <a:pt x="14417214" y="4631530"/>
                </a:lnTo>
                <a:lnTo>
                  <a:pt x="0" y="4631530"/>
                </a:lnTo>
                <a:lnTo>
                  <a:pt x="0" y="0"/>
                </a:lnTo>
                <a:close/>
              </a:path>
            </a:pathLst>
          </a:custGeom>
          <a:blipFill>
            <a:blip r:embed="rId10"/>
            <a:stretch>
              <a:fillRect l="0" t="0" r="0" b="0"/>
            </a:stretch>
          </a:blipFill>
        </p:spPr>
      </p:sp>
      <p:sp>
        <p:nvSpPr>
          <p:cNvPr name="Freeform 80" id="80"/>
          <p:cNvSpPr/>
          <p:nvPr/>
        </p:nvSpPr>
        <p:spPr>
          <a:xfrm flipH="false" flipV="false" rot="0">
            <a:off x="15430316" y="6839598"/>
            <a:ext cx="14430097" cy="4978384"/>
          </a:xfrm>
          <a:custGeom>
            <a:avLst/>
            <a:gdLst/>
            <a:ahLst/>
            <a:cxnLst/>
            <a:rect r="r" b="b" t="t" l="l"/>
            <a:pathLst>
              <a:path h="4978384" w="14430097">
                <a:moveTo>
                  <a:pt x="0" y="0"/>
                </a:moveTo>
                <a:lnTo>
                  <a:pt x="14430097" y="0"/>
                </a:lnTo>
                <a:lnTo>
                  <a:pt x="14430097" y="4978383"/>
                </a:lnTo>
                <a:lnTo>
                  <a:pt x="0" y="4978383"/>
                </a:lnTo>
                <a:lnTo>
                  <a:pt x="0" y="0"/>
                </a:lnTo>
                <a:close/>
              </a:path>
            </a:pathLst>
          </a:custGeom>
          <a:blipFill>
            <a:blip r:embed="rId11"/>
            <a:stretch>
              <a:fillRect l="0" t="0" r="0" b="0"/>
            </a:stretch>
          </a:blipFill>
        </p:spPr>
      </p:sp>
      <p:grpSp>
        <p:nvGrpSpPr>
          <p:cNvPr name="Group 81" id="81"/>
          <p:cNvGrpSpPr/>
          <p:nvPr/>
        </p:nvGrpSpPr>
        <p:grpSpPr>
          <a:xfrm rot="0">
            <a:off x="759889" y="22285242"/>
            <a:ext cx="16092352" cy="676842"/>
            <a:chOff x="0" y="0"/>
            <a:chExt cx="21854558" cy="919200"/>
          </a:xfrm>
        </p:grpSpPr>
        <p:sp>
          <p:nvSpPr>
            <p:cNvPr name="Freeform 82" id="82"/>
            <p:cNvSpPr/>
            <p:nvPr/>
          </p:nvSpPr>
          <p:spPr>
            <a:xfrm flipH="false" flipV="false" rot="0">
              <a:off x="0" y="0"/>
              <a:ext cx="21854485" cy="919099"/>
            </a:xfrm>
            <a:custGeom>
              <a:avLst/>
              <a:gdLst/>
              <a:ahLst/>
              <a:cxnLst/>
              <a:rect r="r" b="b" t="t" l="l"/>
              <a:pathLst>
                <a:path h="919099" w="21854485">
                  <a:moveTo>
                    <a:pt x="0" y="153162"/>
                  </a:moveTo>
                  <a:cubicBezTo>
                    <a:pt x="0" y="68580"/>
                    <a:pt x="66039" y="0"/>
                    <a:pt x="147488" y="0"/>
                  </a:cubicBezTo>
                  <a:lnTo>
                    <a:pt x="21706998" y="0"/>
                  </a:lnTo>
                  <a:cubicBezTo>
                    <a:pt x="21788445" y="0"/>
                    <a:pt x="21854485" y="68580"/>
                    <a:pt x="21854485" y="153162"/>
                  </a:cubicBezTo>
                  <a:lnTo>
                    <a:pt x="21854485" y="765937"/>
                  </a:lnTo>
                  <a:cubicBezTo>
                    <a:pt x="21854485" y="850518"/>
                    <a:pt x="21788445" y="919098"/>
                    <a:pt x="21706998" y="919098"/>
                  </a:cubicBezTo>
                  <a:lnTo>
                    <a:pt x="147488" y="919098"/>
                  </a:lnTo>
                  <a:cubicBezTo>
                    <a:pt x="66039" y="919225"/>
                    <a:pt x="0" y="850645"/>
                    <a:pt x="0" y="765937"/>
                  </a:cubicBezTo>
                  <a:close/>
                </a:path>
              </a:pathLst>
            </a:custGeom>
            <a:solidFill>
              <a:srgbClr val="1B3A6B"/>
            </a:solidFill>
          </p:spPr>
        </p:sp>
        <p:sp>
          <p:nvSpPr>
            <p:cNvPr name="TextBox 83" id="83"/>
            <p:cNvSpPr txBox="true"/>
            <p:nvPr/>
          </p:nvSpPr>
          <p:spPr>
            <a:xfrm>
              <a:off x="0" y="-19050"/>
              <a:ext cx="21854558" cy="938250"/>
            </a:xfrm>
            <a:prstGeom prst="rect">
              <a:avLst/>
            </a:prstGeom>
          </p:spPr>
          <p:txBody>
            <a:bodyPr anchor="ctr" rtlCol="false" tIns="50800" lIns="50800" bIns="50800" rIns="50800"/>
            <a:lstStyle/>
            <a:p>
              <a:pPr algn="l">
                <a:lnSpc>
                  <a:spcPts val="3359"/>
                </a:lnSpc>
              </a:pPr>
              <a:r>
                <a:rPr lang="en-US" sz="2799" b="true">
                  <a:solidFill>
                    <a:srgbClr val="FFFFFF"/>
                  </a:solidFill>
                  <a:latin typeface="Arial Bold"/>
                  <a:ea typeface="Arial Bold"/>
                  <a:cs typeface="Arial Bold"/>
                  <a:sym typeface="Arial Bold"/>
                </a:rPr>
                <a:t> Generation Results</a:t>
              </a:r>
            </a:p>
          </p:txBody>
        </p:sp>
      </p:grpSp>
      <p:sp>
        <p:nvSpPr>
          <p:cNvPr name="Freeform 84" id="84"/>
          <p:cNvSpPr/>
          <p:nvPr/>
        </p:nvSpPr>
        <p:spPr>
          <a:xfrm flipH="false" flipV="false" rot="0">
            <a:off x="770088" y="23262904"/>
            <a:ext cx="16292204" cy="10854681"/>
          </a:xfrm>
          <a:custGeom>
            <a:avLst/>
            <a:gdLst/>
            <a:ahLst/>
            <a:cxnLst/>
            <a:rect r="r" b="b" t="t" l="l"/>
            <a:pathLst>
              <a:path h="10854681" w="16292204">
                <a:moveTo>
                  <a:pt x="0" y="0"/>
                </a:moveTo>
                <a:lnTo>
                  <a:pt x="16292204" y="0"/>
                </a:lnTo>
                <a:lnTo>
                  <a:pt x="16292204" y="10854681"/>
                </a:lnTo>
                <a:lnTo>
                  <a:pt x="0" y="10854681"/>
                </a:lnTo>
                <a:lnTo>
                  <a:pt x="0" y="0"/>
                </a:lnTo>
                <a:close/>
              </a:path>
            </a:pathLst>
          </a:custGeom>
          <a:blipFill>
            <a:blip r:embed="rId12"/>
            <a:stretch>
              <a:fillRect l="0" t="0" r="0" b="0"/>
            </a:stretch>
          </a:blipFill>
        </p:spPr>
      </p:sp>
      <p:grpSp>
        <p:nvGrpSpPr>
          <p:cNvPr name="Group 85" id="85"/>
          <p:cNvGrpSpPr/>
          <p:nvPr/>
        </p:nvGrpSpPr>
        <p:grpSpPr>
          <a:xfrm rot="0">
            <a:off x="17109700" y="22239617"/>
            <a:ext cx="12421641" cy="656413"/>
            <a:chOff x="0" y="0"/>
            <a:chExt cx="13380479" cy="707082"/>
          </a:xfrm>
        </p:grpSpPr>
        <p:sp>
          <p:nvSpPr>
            <p:cNvPr name="Freeform 86" id="86"/>
            <p:cNvSpPr/>
            <p:nvPr/>
          </p:nvSpPr>
          <p:spPr>
            <a:xfrm flipH="false" flipV="false" rot="0">
              <a:off x="0" y="0"/>
              <a:ext cx="13380593" cy="707159"/>
            </a:xfrm>
            <a:custGeom>
              <a:avLst/>
              <a:gdLst/>
              <a:ahLst/>
              <a:cxnLst/>
              <a:rect r="r" b="b" t="t" l="l"/>
              <a:pathLst>
                <a:path h="707159" w="13380593">
                  <a:moveTo>
                    <a:pt x="0" y="117902"/>
                  </a:moveTo>
                  <a:cubicBezTo>
                    <a:pt x="0" y="52813"/>
                    <a:pt x="52451" y="0"/>
                    <a:pt x="117094" y="0"/>
                  </a:cubicBezTo>
                  <a:lnTo>
                    <a:pt x="13263499" y="0"/>
                  </a:lnTo>
                  <a:cubicBezTo>
                    <a:pt x="13328142" y="0"/>
                    <a:pt x="13380593" y="52813"/>
                    <a:pt x="13380593" y="117902"/>
                  </a:cubicBezTo>
                  <a:lnTo>
                    <a:pt x="13380593" y="589257"/>
                  </a:lnTo>
                  <a:cubicBezTo>
                    <a:pt x="13380593" y="654346"/>
                    <a:pt x="13328142" y="707159"/>
                    <a:pt x="13263499" y="707159"/>
                  </a:cubicBezTo>
                  <a:lnTo>
                    <a:pt x="117094" y="707159"/>
                  </a:lnTo>
                  <a:cubicBezTo>
                    <a:pt x="52451" y="707031"/>
                    <a:pt x="0" y="654346"/>
                    <a:pt x="0" y="589257"/>
                  </a:cubicBezTo>
                  <a:close/>
                </a:path>
              </a:pathLst>
            </a:custGeom>
            <a:solidFill>
              <a:srgbClr val="1B3A6B"/>
            </a:solidFill>
          </p:spPr>
        </p:sp>
        <p:sp>
          <p:nvSpPr>
            <p:cNvPr name="TextBox 87" id="87"/>
            <p:cNvSpPr txBox="true"/>
            <p:nvPr/>
          </p:nvSpPr>
          <p:spPr>
            <a:xfrm>
              <a:off x="0" y="-19050"/>
              <a:ext cx="13380479" cy="726132"/>
            </a:xfrm>
            <a:prstGeom prst="rect">
              <a:avLst/>
            </a:prstGeom>
          </p:spPr>
          <p:txBody>
            <a:bodyPr anchor="ctr" rtlCol="false" tIns="50800" lIns="50800" bIns="50800" rIns="50800"/>
            <a:lstStyle/>
            <a:p>
              <a:pPr algn="l">
                <a:lnSpc>
                  <a:spcPts val="3359"/>
                </a:lnSpc>
              </a:pPr>
              <a:r>
                <a:rPr lang="en-US" sz="2799" b="true">
                  <a:solidFill>
                    <a:srgbClr val="FFFFFF"/>
                  </a:solidFill>
                  <a:latin typeface="Arial Bold"/>
                  <a:ea typeface="Arial Bold"/>
                  <a:cs typeface="Arial Bold"/>
                  <a:sym typeface="Arial Bold"/>
                </a:rPr>
                <a:t> Results Analysis</a:t>
              </a:r>
            </a:p>
          </p:txBody>
        </p:sp>
      </p:grpSp>
      <p:grpSp>
        <p:nvGrpSpPr>
          <p:cNvPr name="Group 88" id="88"/>
          <p:cNvGrpSpPr/>
          <p:nvPr/>
        </p:nvGrpSpPr>
        <p:grpSpPr>
          <a:xfrm rot="0">
            <a:off x="17408609" y="38145190"/>
            <a:ext cx="12421641" cy="699025"/>
            <a:chOff x="0" y="0"/>
            <a:chExt cx="13380479" cy="752983"/>
          </a:xfrm>
        </p:grpSpPr>
        <p:sp>
          <p:nvSpPr>
            <p:cNvPr name="Freeform 89" id="89"/>
            <p:cNvSpPr/>
            <p:nvPr/>
          </p:nvSpPr>
          <p:spPr>
            <a:xfrm flipH="false" flipV="false" rot="0">
              <a:off x="0" y="0"/>
              <a:ext cx="13380467" cy="752900"/>
            </a:xfrm>
            <a:custGeom>
              <a:avLst/>
              <a:gdLst/>
              <a:ahLst/>
              <a:cxnLst/>
              <a:rect r="r" b="b" t="t" l="l"/>
              <a:pathLst>
                <a:path h="752900" w="13380467">
                  <a:moveTo>
                    <a:pt x="0" y="125466"/>
                  </a:moveTo>
                  <a:cubicBezTo>
                    <a:pt x="0" y="56179"/>
                    <a:pt x="68580" y="0"/>
                    <a:pt x="153162" y="0"/>
                  </a:cubicBezTo>
                  <a:lnTo>
                    <a:pt x="13227304" y="0"/>
                  </a:lnTo>
                  <a:cubicBezTo>
                    <a:pt x="13311887" y="0"/>
                    <a:pt x="13380467" y="56179"/>
                    <a:pt x="13380467" y="125466"/>
                  </a:cubicBezTo>
                  <a:lnTo>
                    <a:pt x="13380467" y="627434"/>
                  </a:lnTo>
                  <a:cubicBezTo>
                    <a:pt x="13380467" y="696721"/>
                    <a:pt x="13311887" y="752900"/>
                    <a:pt x="13227304" y="752900"/>
                  </a:cubicBezTo>
                  <a:lnTo>
                    <a:pt x="153162" y="752900"/>
                  </a:lnTo>
                  <a:cubicBezTo>
                    <a:pt x="68580" y="753009"/>
                    <a:pt x="0" y="696825"/>
                    <a:pt x="0" y="627434"/>
                  </a:cubicBezTo>
                  <a:close/>
                </a:path>
              </a:pathLst>
            </a:custGeom>
            <a:solidFill>
              <a:srgbClr val="1B3A6B"/>
            </a:solidFill>
          </p:spPr>
        </p:sp>
        <p:sp>
          <p:nvSpPr>
            <p:cNvPr name="TextBox 90" id="90"/>
            <p:cNvSpPr txBox="true"/>
            <p:nvPr/>
          </p:nvSpPr>
          <p:spPr>
            <a:xfrm>
              <a:off x="0" y="-19050"/>
              <a:ext cx="13380479" cy="772033"/>
            </a:xfrm>
            <a:prstGeom prst="rect">
              <a:avLst/>
            </a:prstGeom>
          </p:spPr>
          <p:txBody>
            <a:bodyPr anchor="ctr" rtlCol="false" tIns="50800" lIns="50800" bIns="50800" rIns="50800"/>
            <a:lstStyle/>
            <a:p>
              <a:pPr algn="l">
                <a:lnSpc>
                  <a:spcPts val="3359"/>
                </a:lnSpc>
              </a:pPr>
              <a:r>
                <a:rPr lang="en-US" sz="2799" b="true">
                  <a:solidFill>
                    <a:srgbClr val="FFFFFF"/>
                  </a:solidFill>
                  <a:latin typeface="Arial Bold"/>
                  <a:ea typeface="Arial Bold"/>
                  <a:cs typeface="Arial Bold"/>
                  <a:sym typeface="Arial Bold"/>
                </a:rPr>
                <a:t> </a:t>
              </a:r>
              <a:r>
                <a:rPr lang="en-US" sz="2799" b="true">
                  <a:solidFill>
                    <a:srgbClr val="FFFFFF"/>
                  </a:solidFill>
                  <a:latin typeface="Arial Bold"/>
                  <a:ea typeface="Arial Bold"/>
                  <a:cs typeface="Arial Bold"/>
                  <a:sym typeface="Arial Bold"/>
                </a:rPr>
                <a:t>Acknowledgments</a:t>
              </a:r>
            </a:p>
          </p:txBody>
        </p:sp>
      </p:grpSp>
      <p:grpSp>
        <p:nvGrpSpPr>
          <p:cNvPr name="Group 91" id="91"/>
          <p:cNvGrpSpPr/>
          <p:nvPr/>
        </p:nvGrpSpPr>
        <p:grpSpPr>
          <a:xfrm rot="0">
            <a:off x="17062292" y="24353573"/>
            <a:ext cx="12542771" cy="3602290"/>
            <a:chOff x="0" y="0"/>
            <a:chExt cx="13380479" cy="3842880"/>
          </a:xfrm>
        </p:grpSpPr>
        <p:sp>
          <p:nvSpPr>
            <p:cNvPr name="Freeform 92" id="92"/>
            <p:cNvSpPr/>
            <p:nvPr/>
          </p:nvSpPr>
          <p:spPr>
            <a:xfrm flipH="false" flipV="false" rot="0">
              <a:off x="0" y="0"/>
              <a:ext cx="13380465" cy="3842893"/>
            </a:xfrm>
            <a:custGeom>
              <a:avLst/>
              <a:gdLst/>
              <a:ahLst/>
              <a:cxnLst/>
              <a:rect r="r" b="b" t="t" l="l"/>
              <a:pathLst>
                <a:path h="3842893" w="13380465">
                  <a:moveTo>
                    <a:pt x="0" y="0"/>
                  </a:moveTo>
                  <a:lnTo>
                    <a:pt x="13380465" y="0"/>
                  </a:lnTo>
                  <a:lnTo>
                    <a:pt x="13380465" y="3842893"/>
                  </a:lnTo>
                  <a:lnTo>
                    <a:pt x="0" y="3842893"/>
                  </a:lnTo>
                  <a:lnTo>
                    <a:pt x="0" y="0"/>
                  </a:lnTo>
                  <a:close/>
                </a:path>
              </a:pathLst>
            </a:custGeom>
            <a:blipFill>
              <a:blip r:embed="rId13"/>
              <a:stretch>
                <a:fillRect l="-2297" t="0" r="-2297" b="0"/>
              </a:stretch>
            </a:blipFill>
          </p:spPr>
        </p:sp>
      </p:grpSp>
      <p:grpSp>
        <p:nvGrpSpPr>
          <p:cNvPr name="Group 93" id="93"/>
          <p:cNvGrpSpPr/>
          <p:nvPr/>
        </p:nvGrpSpPr>
        <p:grpSpPr>
          <a:xfrm rot="0">
            <a:off x="25362867" y="24307310"/>
            <a:ext cx="3844173" cy="1319679"/>
            <a:chOff x="0" y="0"/>
            <a:chExt cx="4140908" cy="1421547"/>
          </a:xfrm>
        </p:grpSpPr>
        <p:sp>
          <p:nvSpPr>
            <p:cNvPr name="Freeform 94" id="94"/>
            <p:cNvSpPr/>
            <p:nvPr/>
          </p:nvSpPr>
          <p:spPr>
            <a:xfrm flipH="false" flipV="false" rot="0">
              <a:off x="0" y="0"/>
              <a:ext cx="4140946" cy="1421572"/>
            </a:xfrm>
            <a:custGeom>
              <a:avLst/>
              <a:gdLst/>
              <a:ahLst/>
              <a:cxnLst/>
              <a:rect r="r" b="b" t="t" l="l"/>
              <a:pathLst>
                <a:path h="1421572" w="4140946">
                  <a:moveTo>
                    <a:pt x="0" y="236928"/>
                  </a:moveTo>
                  <a:cubicBezTo>
                    <a:pt x="0" y="106045"/>
                    <a:pt x="103313" y="0"/>
                    <a:pt x="230824" y="0"/>
                  </a:cubicBezTo>
                  <a:lnTo>
                    <a:pt x="3910116" y="0"/>
                  </a:lnTo>
                  <a:cubicBezTo>
                    <a:pt x="4037627" y="0"/>
                    <a:pt x="4140946" y="106045"/>
                    <a:pt x="4140946" y="236928"/>
                  </a:cubicBezTo>
                  <a:lnTo>
                    <a:pt x="4140946" y="1184640"/>
                  </a:lnTo>
                  <a:cubicBezTo>
                    <a:pt x="4140946" y="1315523"/>
                    <a:pt x="4037627" y="1421572"/>
                    <a:pt x="3910116" y="1421572"/>
                  </a:cubicBezTo>
                  <a:lnTo>
                    <a:pt x="230824" y="1421572"/>
                  </a:lnTo>
                  <a:cubicBezTo>
                    <a:pt x="103313" y="1421572"/>
                    <a:pt x="0" y="1315415"/>
                    <a:pt x="0" y="1184640"/>
                  </a:cubicBezTo>
                  <a:close/>
                </a:path>
              </a:pathLst>
            </a:custGeom>
            <a:solidFill>
              <a:srgbClr val="FDE8E8"/>
            </a:solidFill>
            <a:ln w="19050" cap="sq">
              <a:solidFill>
                <a:srgbClr val="C05050"/>
              </a:solidFill>
              <a:prstDash val="solid"/>
              <a:miter/>
            </a:ln>
          </p:spPr>
        </p:sp>
      </p:grpSp>
      <p:grpSp>
        <p:nvGrpSpPr>
          <p:cNvPr name="Group 95" id="95"/>
          <p:cNvGrpSpPr/>
          <p:nvPr/>
        </p:nvGrpSpPr>
        <p:grpSpPr>
          <a:xfrm rot="0">
            <a:off x="20642066" y="24248361"/>
            <a:ext cx="3355931" cy="1379191"/>
            <a:chOff x="0" y="0"/>
            <a:chExt cx="3614979" cy="1485652"/>
          </a:xfrm>
        </p:grpSpPr>
        <p:sp>
          <p:nvSpPr>
            <p:cNvPr name="Freeform 96" id="96"/>
            <p:cNvSpPr/>
            <p:nvPr/>
          </p:nvSpPr>
          <p:spPr>
            <a:xfrm flipH="false" flipV="false" rot="0">
              <a:off x="0" y="0"/>
              <a:ext cx="3614900" cy="1485498"/>
            </a:xfrm>
            <a:custGeom>
              <a:avLst/>
              <a:gdLst/>
              <a:ahLst/>
              <a:cxnLst/>
              <a:rect r="r" b="b" t="t" l="l"/>
              <a:pathLst>
                <a:path h="1485498" w="3614900">
                  <a:moveTo>
                    <a:pt x="0" y="247565"/>
                  </a:moveTo>
                  <a:cubicBezTo>
                    <a:pt x="0" y="110848"/>
                    <a:pt x="98959" y="0"/>
                    <a:pt x="221012" y="0"/>
                  </a:cubicBezTo>
                  <a:lnTo>
                    <a:pt x="3393889" y="0"/>
                  </a:lnTo>
                  <a:cubicBezTo>
                    <a:pt x="3515941" y="0"/>
                    <a:pt x="3614900" y="110848"/>
                    <a:pt x="3614900" y="247565"/>
                  </a:cubicBezTo>
                  <a:lnTo>
                    <a:pt x="3614900" y="1237933"/>
                  </a:lnTo>
                  <a:cubicBezTo>
                    <a:pt x="3614900" y="1374650"/>
                    <a:pt x="3515941" y="1485498"/>
                    <a:pt x="3393889" y="1485498"/>
                  </a:cubicBezTo>
                  <a:lnTo>
                    <a:pt x="221012" y="1485498"/>
                  </a:lnTo>
                  <a:cubicBezTo>
                    <a:pt x="98959" y="1485608"/>
                    <a:pt x="0" y="1374759"/>
                    <a:pt x="0" y="1238043"/>
                  </a:cubicBezTo>
                  <a:close/>
                </a:path>
              </a:pathLst>
            </a:custGeom>
            <a:solidFill>
              <a:srgbClr val="E8F5E8"/>
            </a:solidFill>
            <a:ln w="19050" cap="sq">
              <a:solidFill>
                <a:srgbClr val="27AE60"/>
              </a:solidFill>
              <a:prstDash val="solid"/>
              <a:miter/>
            </a:ln>
          </p:spPr>
        </p:sp>
      </p:grpSp>
      <p:grpSp>
        <p:nvGrpSpPr>
          <p:cNvPr name="Group 97" id="97"/>
          <p:cNvGrpSpPr/>
          <p:nvPr/>
        </p:nvGrpSpPr>
        <p:grpSpPr>
          <a:xfrm rot="0">
            <a:off x="807999" y="34459493"/>
            <a:ext cx="16044242" cy="656413"/>
            <a:chOff x="0" y="0"/>
            <a:chExt cx="17282712" cy="707082"/>
          </a:xfrm>
        </p:grpSpPr>
        <p:sp>
          <p:nvSpPr>
            <p:cNvPr name="Freeform 98" id="98"/>
            <p:cNvSpPr/>
            <p:nvPr/>
          </p:nvSpPr>
          <p:spPr>
            <a:xfrm flipH="false" flipV="false" rot="0">
              <a:off x="0" y="0"/>
              <a:ext cx="17282826" cy="707159"/>
            </a:xfrm>
            <a:custGeom>
              <a:avLst/>
              <a:gdLst/>
              <a:ahLst/>
              <a:cxnLst/>
              <a:rect r="r" b="b" t="t" l="l"/>
              <a:pathLst>
                <a:path h="707159" w="17282826">
                  <a:moveTo>
                    <a:pt x="0" y="117902"/>
                  </a:moveTo>
                  <a:cubicBezTo>
                    <a:pt x="0" y="52813"/>
                    <a:pt x="67748" y="0"/>
                    <a:pt x="151243" y="0"/>
                  </a:cubicBezTo>
                  <a:lnTo>
                    <a:pt x="17131616" y="0"/>
                  </a:lnTo>
                  <a:cubicBezTo>
                    <a:pt x="17215112" y="0"/>
                    <a:pt x="17282826" y="52813"/>
                    <a:pt x="17282826" y="117902"/>
                  </a:cubicBezTo>
                  <a:lnTo>
                    <a:pt x="17282826" y="589257"/>
                  </a:lnTo>
                  <a:cubicBezTo>
                    <a:pt x="17282826" y="654346"/>
                    <a:pt x="17215112" y="707159"/>
                    <a:pt x="17131616" y="707159"/>
                  </a:cubicBezTo>
                  <a:lnTo>
                    <a:pt x="151243" y="707159"/>
                  </a:lnTo>
                  <a:cubicBezTo>
                    <a:pt x="67748" y="707031"/>
                    <a:pt x="0" y="654346"/>
                    <a:pt x="0" y="589257"/>
                  </a:cubicBezTo>
                  <a:close/>
                </a:path>
              </a:pathLst>
            </a:custGeom>
            <a:solidFill>
              <a:srgbClr val="1B3A6B"/>
            </a:solidFill>
          </p:spPr>
        </p:sp>
        <p:sp>
          <p:nvSpPr>
            <p:cNvPr name="TextBox 99" id="99"/>
            <p:cNvSpPr txBox="true"/>
            <p:nvPr/>
          </p:nvSpPr>
          <p:spPr>
            <a:xfrm>
              <a:off x="0" y="-19050"/>
              <a:ext cx="17282712" cy="726132"/>
            </a:xfrm>
            <a:prstGeom prst="rect">
              <a:avLst/>
            </a:prstGeom>
          </p:spPr>
          <p:txBody>
            <a:bodyPr anchor="ctr" rtlCol="false" tIns="50800" lIns="50800" bIns="50800" rIns="50800"/>
            <a:lstStyle/>
            <a:p>
              <a:pPr algn="l">
                <a:lnSpc>
                  <a:spcPts val="3359"/>
                </a:lnSpc>
              </a:pPr>
              <a:r>
                <a:rPr lang="en-US" sz="2799" b="true">
                  <a:solidFill>
                    <a:srgbClr val="FFFFFF"/>
                  </a:solidFill>
                  <a:latin typeface="Arial Bold"/>
                  <a:ea typeface="Arial Bold"/>
                  <a:cs typeface="Arial Bold"/>
                  <a:sym typeface="Arial Bold"/>
                </a:rPr>
                <a:t> </a:t>
              </a:r>
              <a:r>
                <a:rPr lang="en-US" sz="2799" b="true">
                  <a:solidFill>
                    <a:srgbClr val="FFFFFF"/>
                  </a:solidFill>
                  <a:latin typeface="Arial Bold"/>
                  <a:ea typeface="Arial Bold"/>
                  <a:cs typeface="Arial Bold"/>
                  <a:sym typeface="Arial Bold"/>
                </a:rPr>
                <a:t>Discussion &amp; Future Work</a:t>
              </a:r>
            </a:p>
          </p:txBody>
        </p:sp>
      </p:grpSp>
      <p:sp>
        <p:nvSpPr>
          <p:cNvPr name="AutoShape 100" id="100"/>
          <p:cNvSpPr/>
          <p:nvPr/>
        </p:nvSpPr>
        <p:spPr>
          <a:xfrm flipV="true">
            <a:off x="6061686" y="36024808"/>
            <a:ext cx="0" cy="3751592"/>
          </a:xfrm>
          <a:prstGeom prst="line">
            <a:avLst/>
          </a:prstGeom>
          <a:ln cap="rnd" w="19050">
            <a:solidFill>
              <a:srgbClr val="000000"/>
            </a:solidFill>
            <a:prstDash val="solid"/>
            <a:headEnd type="none" len="sm" w="sm"/>
            <a:tailEnd type="none" len="sm" w="sm"/>
          </a:ln>
        </p:spPr>
      </p:sp>
      <p:grpSp>
        <p:nvGrpSpPr>
          <p:cNvPr name="Group 101" id="101"/>
          <p:cNvGrpSpPr/>
          <p:nvPr/>
        </p:nvGrpSpPr>
        <p:grpSpPr>
          <a:xfrm rot="0">
            <a:off x="12398804" y="35457814"/>
            <a:ext cx="3625766" cy="2823881"/>
            <a:chOff x="0" y="0"/>
            <a:chExt cx="5788317" cy="4508157"/>
          </a:xfrm>
        </p:grpSpPr>
        <p:sp>
          <p:nvSpPr>
            <p:cNvPr name="Freeform 102" id="102"/>
            <p:cNvSpPr/>
            <p:nvPr/>
          </p:nvSpPr>
          <p:spPr>
            <a:xfrm flipH="false" flipV="false" rot="0">
              <a:off x="0" y="0"/>
              <a:ext cx="5788279" cy="4508119"/>
            </a:xfrm>
            <a:custGeom>
              <a:avLst/>
              <a:gdLst/>
              <a:ahLst/>
              <a:cxnLst/>
              <a:rect r="r" b="b" t="t" l="l"/>
              <a:pathLst>
                <a:path h="4508119" w="5788279">
                  <a:moveTo>
                    <a:pt x="0" y="0"/>
                  </a:moveTo>
                  <a:lnTo>
                    <a:pt x="5788279" y="0"/>
                  </a:lnTo>
                  <a:lnTo>
                    <a:pt x="5788279" y="4508119"/>
                  </a:lnTo>
                  <a:lnTo>
                    <a:pt x="0" y="4508119"/>
                  </a:lnTo>
                  <a:lnTo>
                    <a:pt x="0" y="0"/>
                  </a:lnTo>
                  <a:close/>
                </a:path>
              </a:pathLst>
            </a:custGeom>
            <a:blipFill>
              <a:blip r:embed="rId14"/>
              <a:stretch>
                <a:fillRect l="0" t="-3213" r="-4593" b="-9458"/>
              </a:stretch>
            </a:blipFill>
          </p:spPr>
        </p:sp>
      </p:grpSp>
      <p:sp>
        <p:nvSpPr>
          <p:cNvPr name="Freeform 103" id="103"/>
          <p:cNvSpPr/>
          <p:nvPr/>
        </p:nvSpPr>
        <p:spPr>
          <a:xfrm flipH="false" flipV="false" rot="0">
            <a:off x="17336506" y="34372860"/>
            <a:ext cx="6161658" cy="2835020"/>
          </a:xfrm>
          <a:custGeom>
            <a:avLst/>
            <a:gdLst/>
            <a:ahLst/>
            <a:cxnLst/>
            <a:rect r="r" b="b" t="t" l="l"/>
            <a:pathLst>
              <a:path h="2835020" w="6161658">
                <a:moveTo>
                  <a:pt x="0" y="0"/>
                </a:moveTo>
                <a:lnTo>
                  <a:pt x="6161658" y="0"/>
                </a:lnTo>
                <a:lnTo>
                  <a:pt x="6161658" y="2835019"/>
                </a:lnTo>
                <a:lnTo>
                  <a:pt x="0" y="2835019"/>
                </a:lnTo>
                <a:lnTo>
                  <a:pt x="0" y="0"/>
                </a:lnTo>
                <a:close/>
              </a:path>
            </a:pathLst>
          </a:custGeom>
          <a:blipFill>
            <a:blip r:embed="rId15"/>
            <a:stretch>
              <a:fillRect l="-48989" t="-7668" r="0" b="0"/>
            </a:stretch>
          </a:blipFill>
        </p:spPr>
      </p:sp>
      <p:sp>
        <p:nvSpPr>
          <p:cNvPr name="Freeform 104" id="104"/>
          <p:cNvSpPr/>
          <p:nvPr/>
        </p:nvSpPr>
        <p:spPr>
          <a:xfrm flipH="false" flipV="false" rot="0">
            <a:off x="23656226" y="34430837"/>
            <a:ext cx="5972417" cy="2794739"/>
          </a:xfrm>
          <a:custGeom>
            <a:avLst/>
            <a:gdLst/>
            <a:ahLst/>
            <a:cxnLst/>
            <a:rect r="r" b="b" t="t" l="l"/>
            <a:pathLst>
              <a:path h="2794739" w="5972417">
                <a:moveTo>
                  <a:pt x="0" y="0"/>
                </a:moveTo>
                <a:lnTo>
                  <a:pt x="5972417" y="0"/>
                </a:lnTo>
                <a:lnTo>
                  <a:pt x="5972417" y="2794739"/>
                </a:lnTo>
                <a:lnTo>
                  <a:pt x="0" y="2794739"/>
                </a:lnTo>
                <a:lnTo>
                  <a:pt x="0" y="0"/>
                </a:lnTo>
                <a:close/>
              </a:path>
            </a:pathLst>
          </a:custGeom>
          <a:blipFill>
            <a:blip r:embed="rId16"/>
            <a:stretch>
              <a:fillRect l="-50411" t="-6876" r="0" b="0"/>
            </a:stretch>
          </a:blipFill>
        </p:spPr>
      </p:sp>
      <p:sp>
        <p:nvSpPr>
          <p:cNvPr name="Freeform 105" id="105"/>
          <p:cNvSpPr/>
          <p:nvPr/>
        </p:nvSpPr>
        <p:spPr>
          <a:xfrm flipH="false" flipV="false" rot="0">
            <a:off x="17897674" y="31033034"/>
            <a:ext cx="10872150" cy="3288825"/>
          </a:xfrm>
          <a:custGeom>
            <a:avLst/>
            <a:gdLst/>
            <a:ahLst/>
            <a:cxnLst/>
            <a:rect r="r" b="b" t="t" l="l"/>
            <a:pathLst>
              <a:path h="3288825" w="10872150">
                <a:moveTo>
                  <a:pt x="0" y="0"/>
                </a:moveTo>
                <a:lnTo>
                  <a:pt x="10872150" y="0"/>
                </a:lnTo>
                <a:lnTo>
                  <a:pt x="10872150" y="3288825"/>
                </a:lnTo>
                <a:lnTo>
                  <a:pt x="0" y="3288825"/>
                </a:lnTo>
                <a:lnTo>
                  <a:pt x="0" y="0"/>
                </a:lnTo>
                <a:close/>
              </a:path>
            </a:pathLst>
          </a:custGeom>
          <a:blipFill>
            <a:blip r:embed="rId17"/>
            <a:stretch>
              <a:fillRect l="0" t="0" r="0" b="0"/>
            </a:stretch>
          </a:blipFill>
        </p:spPr>
      </p:sp>
      <p:sp>
        <p:nvSpPr>
          <p:cNvPr name="Freeform 106" id="106"/>
          <p:cNvSpPr/>
          <p:nvPr/>
        </p:nvSpPr>
        <p:spPr>
          <a:xfrm flipH="false" flipV="false" rot="0">
            <a:off x="713544" y="13131699"/>
            <a:ext cx="14324989" cy="3545435"/>
          </a:xfrm>
          <a:custGeom>
            <a:avLst/>
            <a:gdLst/>
            <a:ahLst/>
            <a:cxnLst/>
            <a:rect r="r" b="b" t="t" l="l"/>
            <a:pathLst>
              <a:path h="3545435" w="14324989">
                <a:moveTo>
                  <a:pt x="0" y="0"/>
                </a:moveTo>
                <a:lnTo>
                  <a:pt x="14324990" y="0"/>
                </a:lnTo>
                <a:lnTo>
                  <a:pt x="14324990" y="3545435"/>
                </a:lnTo>
                <a:lnTo>
                  <a:pt x="0" y="3545435"/>
                </a:lnTo>
                <a:lnTo>
                  <a:pt x="0" y="0"/>
                </a:lnTo>
                <a:close/>
              </a:path>
            </a:pathLst>
          </a:custGeom>
          <a:blipFill>
            <a:blip r:embed="rId18"/>
            <a:stretch>
              <a:fillRect l="0" t="0" r="0" b="0"/>
            </a:stretch>
          </a:blipFill>
        </p:spPr>
      </p:sp>
      <p:sp>
        <p:nvSpPr>
          <p:cNvPr name="TextBox 107" id="107"/>
          <p:cNvSpPr txBox="true"/>
          <p:nvPr/>
        </p:nvSpPr>
        <p:spPr>
          <a:xfrm rot="0">
            <a:off x="1722767" y="18607709"/>
            <a:ext cx="7600580" cy="258048"/>
          </a:xfrm>
          <a:prstGeom prst="rect">
            <a:avLst/>
          </a:prstGeom>
        </p:spPr>
        <p:txBody>
          <a:bodyPr anchor="t" rtlCol="false" tIns="0" lIns="0" bIns="0" rIns="0">
            <a:spAutoFit/>
          </a:bodyPr>
          <a:lstStyle/>
          <a:p>
            <a:pPr algn="l">
              <a:lnSpc>
                <a:spcPts val="1927"/>
              </a:lnSpc>
            </a:pPr>
            <a:r>
              <a:rPr lang="en-US" sz="1605" b="true">
                <a:solidFill>
                  <a:srgbClr val="E74C3C"/>
                </a:solidFill>
                <a:latin typeface="Arial Bold"/>
                <a:ea typeface="Arial Bold"/>
                <a:cs typeface="Arial Bold"/>
                <a:sym typeface="Arial Bold"/>
              </a:rPr>
              <a:t>Mesh Inflation</a:t>
            </a:r>
          </a:p>
        </p:txBody>
      </p:sp>
      <p:sp>
        <p:nvSpPr>
          <p:cNvPr name="TextBox 108" id="108"/>
          <p:cNvSpPr txBox="true"/>
          <p:nvPr/>
        </p:nvSpPr>
        <p:spPr>
          <a:xfrm rot="0">
            <a:off x="852666" y="5402952"/>
            <a:ext cx="14182354" cy="5429250"/>
          </a:xfrm>
          <a:prstGeom prst="rect">
            <a:avLst/>
          </a:prstGeom>
        </p:spPr>
        <p:txBody>
          <a:bodyPr anchor="t" rtlCol="false" tIns="0" lIns="0" bIns="0" rIns="0">
            <a:spAutoFit/>
          </a:bodyPr>
          <a:lstStyle/>
          <a:p>
            <a:pPr algn="l">
              <a:lnSpc>
                <a:spcPts val="2280"/>
              </a:lnSpc>
            </a:pPr>
            <a:r>
              <a:rPr lang="en-US" sz="1900">
                <a:solidFill>
                  <a:srgbClr val="1A1A1A"/>
                </a:solidFill>
                <a:latin typeface="Noto Sans"/>
                <a:ea typeface="Noto Sans"/>
                <a:cs typeface="Noto Sans"/>
                <a:sym typeface="Noto Sans"/>
              </a:rPr>
              <a:t>It is well established that aging significantly shapes human movement — altering gait speed, joint range of motion, and stride consistency in ways that are clinically meaningful but visually subtle. For assistive robots that must anticipate and safely interact with older adults, models that lack age-aware motion priors pose a safety risk. We ask: </a:t>
            </a:r>
            <a:r>
              <a:rPr lang="en-US" b="true" sz="1900" i="true">
                <a:solidFill>
                  <a:srgbClr val="1A1A1A"/>
                </a:solidFill>
                <a:latin typeface="Noto Sans Bold Italics"/>
                <a:ea typeface="Noto Sans Bold Italics"/>
                <a:cs typeface="Noto Sans Bold Italics"/>
                <a:sym typeface="Noto Sans Bold Italics"/>
              </a:rPr>
              <a:t>can data-driven models learn genuine age-related biomechanical variation, and generate motions that faithfully reflect those differences?</a:t>
            </a:r>
          </a:p>
          <a:p>
            <a:pPr algn="l">
              <a:lnSpc>
                <a:spcPts val="2280"/>
              </a:lnSpc>
            </a:pPr>
          </a:p>
          <a:p>
            <a:pPr algn="l">
              <a:lnSpc>
                <a:spcPts val="2280"/>
              </a:lnSpc>
            </a:pPr>
            <a:r>
              <a:rPr lang="en-US" sz="1900">
                <a:solidFill>
                  <a:srgbClr val="1A1A1A"/>
                </a:solidFill>
                <a:latin typeface="Noto Sans"/>
                <a:ea typeface="Noto Sans"/>
                <a:cs typeface="Noto Sans"/>
                <a:sym typeface="Noto Sans"/>
              </a:rPr>
              <a:t>We present a three-component framework, evaluated end-to-end on 450 motion clips from 138 subjects (ages 21–86):</a:t>
            </a:r>
          </a:p>
          <a:p>
            <a:pPr algn="l">
              <a:lnSpc>
                <a:spcPts val="2280"/>
              </a:lnSpc>
            </a:pPr>
            <a:r>
              <a:rPr lang="en-US" sz="1900">
                <a:solidFill>
                  <a:srgbClr val="1A1A1A"/>
                </a:solidFill>
                <a:latin typeface="Noto Sans"/>
                <a:ea typeface="Noto Sans"/>
                <a:cs typeface="Noto Sans"/>
                <a:sym typeface="Noto Sans"/>
              </a:rPr>
              <a:t>• A </a:t>
            </a:r>
            <a:r>
              <a:rPr lang="en-US" b="true" sz="1900" u="sng">
                <a:solidFill>
                  <a:srgbClr val="1A1A1A"/>
                </a:solidFill>
                <a:latin typeface="Noto Sans Bold"/>
                <a:ea typeface="Noto Sans Bold"/>
                <a:cs typeface="Noto Sans Bold"/>
                <a:sym typeface="Noto Sans Bold"/>
              </a:rPr>
              <a:t>data processing pipeline</a:t>
            </a:r>
            <a:r>
              <a:rPr lang="en-US" sz="1900">
                <a:solidFill>
                  <a:srgbClr val="1A1A1A"/>
                </a:solidFill>
                <a:latin typeface="Noto Sans"/>
                <a:ea typeface="Noto Sans"/>
                <a:cs typeface="Noto Sans"/>
                <a:sym typeface="Noto Sans"/>
              </a:rPr>
              <a:t> converting clinical C3D motion-capture recordings into HumanML3D skeletal graph representations, resolving legacy artifacts (axis misalignment, marker mislabeling, </a:t>
            </a:r>
            <a:r>
              <a:rPr lang="en-US" sz="1900">
                <a:solidFill>
                  <a:srgbClr val="1A1A1A"/>
                </a:solidFill>
                <a:latin typeface="Noto Sans"/>
                <a:ea typeface="Noto Sans"/>
                <a:cs typeface="Noto Sans"/>
                <a:sym typeface="Noto Sans"/>
              </a:rPr>
              <a:t>m</a:t>
            </a:r>
            <a:r>
              <a:rPr lang="en-US" sz="1900">
                <a:solidFill>
                  <a:srgbClr val="1A1A1A"/>
                </a:solidFill>
                <a:latin typeface="Noto Sans"/>
                <a:ea typeface="Noto Sans"/>
                <a:cs typeface="Noto Sans"/>
                <a:sym typeface="Noto Sans"/>
              </a:rPr>
              <a:t>esh infl</a:t>
            </a:r>
            <a:r>
              <a:rPr lang="en-US" sz="1900">
                <a:solidFill>
                  <a:srgbClr val="1A1A1A"/>
                </a:solidFill>
                <a:latin typeface="Noto Sans"/>
                <a:ea typeface="Noto Sans"/>
                <a:cs typeface="Noto Sans"/>
                <a:sym typeface="Noto Sans"/>
              </a:rPr>
              <a:t>a</a:t>
            </a:r>
            <a:r>
              <a:rPr lang="en-US" sz="1900">
                <a:solidFill>
                  <a:srgbClr val="1A1A1A"/>
                </a:solidFill>
                <a:latin typeface="Noto Sans"/>
                <a:ea typeface="Noto Sans"/>
                <a:cs typeface="Noto Sans"/>
                <a:sym typeface="Noto Sans"/>
              </a:rPr>
              <a:t>tio</a:t>
            </a:r>
            <a:r>
              <a:rPr lang="en-US" sz="1900">
                <a:solidFill>
                  <a:srgbClr val="1A1A1A"/>
                </a:solidFill>
                <a:latin typeface="Noto Sans"/>
                <a:ea typeface="Noto Sans"/>
                <a:cs typeface="Noto Sans"/>
                <a:sym typeface="Noto Sans"/>
              </a:rPr>
              <a:t>n</a:t>
            </a:r>
            <a:r>
              <a:rPr lang="en-US" sz="1900">
                <a:solidFill>
                  <a:srgbClr val="1A1A1A"/>
                </a:solidFill>
                <a:latin typeface="Noto Sans"/>
                <a:ea typeface="Noto Sans"/>
                <a:cs typeface="Noto Sans"/>
                <a:sym typeface="Noto Sans"/>
              </a:rPr>
              <a:t>) while preserving age-related kinematic cues.</a:t>
            </a:r>
          </a:p>
          <a:p>
            <a:pPr algn="l">
              <a:lnSpc>
                <a:spcPts val="2280"/>
              </a:lnSpc>
            </a:pPr>
            <a:r>
              <a:rPr lang="en-US" sz="1900">
                <a:solidFill>
                  <a:srgbClr val="1A1A1A"/>
                </a:solidFill>
                <a:latin typeface="Noto Sans"/>
                <a:ea typeface="Noto Sans"/>
                <a:cs typeface="Noto Sans"/>
                <a:sym typeface="Noto Sans"/>
              </a:rPr>
              <a:t>• A </a:t>
            </a:r>
            <a:r>
              <a:rPr lang="en-US" sz="1900" b="true">
                <a:solidFill>
                  <a:srgbClr val="1A1A1A"/>
                </a:solidFill>
                <a:latin typeface="Noto Sans Bold"/>
                <a:ea typeface="Noto Sans Bold"/>
                <a:cs typeface="Noto Sans Bold"/>
                <a:sym typeface="Noto Sans Bold"/>
              </a:rPr>
              <a:t>Spatio-Temporal Graph Convolutional Network</a:t>
            </a:r>
            <a:r>
              <a:rPr lang="en-US" sz="1900">
                <a:solidFill>
                  <a:srgbClr val="1A1A1A"/>
                </a:solidFill>
                <a:latin typeface="Noto Sans"/>
                <a:ea typeface="Noto Sans"/>
                <a:cs typeface="Noto Sans"/>
                <a:sym typeface="Noto Sans"/>
              </a:rPr>
              <a:t> (ST-GCN) fine-tuned to classify motion clips into Young, Mid-Age, and Elderly groups, achieving </a:t>
            </a:r>
            <a:r>
              <a:rPr lang="en-US" sz="1900" b="true">
                <a:solidFill>
                  <a:srgbClr val="1A1A1A"/>
                </a:solidFill>
                <a:latin typeface="Noto Sans Bold"/>
                <a:ea typeface="Noto Sans Bold"/>
                <a:cs typeface="Noto Sans Bold"/>
                <a:sym typeface="Noto Sans Bold"/>
              </a:rPr>
              <a:t>64.6% validation accuracy</a:t>
            </a:r>
            <a:r>
              <a:rPr lang="en-US" sz="1900">
                <a:solidFill>
                  <a:srgbClr val="1A1A1A"/>
                </a:solidFill>
                <a:latin typeface="Noto Sans"/>
                <a:ea typeface="Noto Sans"/>
                <a:cs typeface="Noto Sans"/>
                <a:sym typeface="Noto Sans"/>
              </a:rPr>
              <a:t> — 31.6 points above the random baseline — and extracting a 32-dimensional latent age embedding </a:t>
            </a:r>
            <a:r>
              <a:rPr lang="en-US" b="true" sz="1900" u="sng">
                <a:solidFill>
                  <a:srgbClr val="CB6CE6"/>
                </a:solidFill>
                <a:latin typeface="Noto Sans Bold"/>
                <a:ea typeface="Noto Sans Bold"/>
                <a:cs typeface="Noto Sans Bold"/>
                <a:sym typeface="Noto Sans Bold"/>
              </a:rPr>
              <a:t>z-age</a:t>
            </a:r>
            <a:r>
              <a:rPr lang="en-US" sz="1900">
                <a:solidFill>
                  <a:srgbClr val="1A1A1A"/>
                </a:solidFill>
                <a:latin typeface="Noto Sans"/>
                <a:ea typeface="Noto Sans"/>
                <a:cs typeface="Noto Sans"/>
                <a:sym typeface="Noto Sans"/>
              </a:rPr>
              <a:t> that encodes biomechanical gait signatures.</a:t>
            </a:r>
          </a:p>
          <a:p>
            <a:pPr algn="l">
              <a:lnSpc>
                <a:spcPts val="2280"/>
              </a:lnSpc>
            </a:pPr>
            <a:r>
              <a:rPr lang="en-US" sz="1900">
                <a:solidFill>
                  <a:srgbClr val="1A1A1A"/>
                </a:solidFill>
                <a:latin typeface="Noto Sans"/>
                <a:ea typeface="Noto Sans"/>
                <a:cs typeface="Noto Sans"/>
                <a:sym typeface="Noto Sans"/>
              </a:rPr>
              <a:t>• A </a:t>
            </a:r>
            <a:r>
              <a:rPr lang="en-US" b="true" sz="1900" u="sng">
                <a:solidFill>
                  <a:srgbClr val="1A1A1A"/>
                </a:solidFill>
                <a:latin typeface="Noto Sans Bold"/>
                <a:ea typeface="Noto Sans Bold"/>
                <a:cs typeface="Noto Sans Bold"/>
                <a:sym typeface="Noto Sans Bold"/>
              </a:rPr>
              <a:t>LoRA-adapted Motion Diffusion Model</a:t>
            </a:r>
            <a:r>
              <a:rPr lang="en-US" sz="1900">
                <a:solidFill>
                  <a:srgbClr val="1A1A1A"/>
                </a:solidFill>
                <a:latin typeface="Noto Sans"/>
                <a:ea typeface="Noto Sans"/>
                <a:cs typeface="Noto Sans"/>
                <a:sym typeface="Noto Sans"/>
              </a:rPr>
              <a:t> (MDM) conditioned on discrete age tokens to generate text-driven, age-conditioned motion. Evaluation of 9,000 generated clips shows the model successfully reproduces spatial kinematic constraints.</a:t>
            </a:r>
          </a:p>
          <a:p>
            <a:pPr algn="l">
              <a:lnSpc>
                <a:spcPts val="2280"/>
              </a:lnSpc>
            </a:pPr>
          </a:p>
          <a:p>
            <a:pPr algn="l">
              <a:lnSpc>
                <a:spcPts val="2280"/>
              </a:lnSpc>
            </a:pPr>
            <a:r>
              <a:rPr lang="en-US" sz="1900">
                <a:solidFill>
                  <a:srgbClr val="1A1A1A"/>
                </a:solidFill>
                <a:latin typeface="Noto Sans"/>
                <a:ea typeface="Noto Sans"/>
                <a:cs typeface="Noto Sans"/>
                <a:sym typeface="Noto Sans"/>
              </a:rPr>
              <a:t>These findings identify spatiotemporal consistency, conditioning strength, and dataset scale as the critical bottlenecks for age-aware motion synthesis, moltivating the collection of l</a:t>
            </a:r>
            <a:r>
              <a:rPr lang="en-US" sz="1900" u="none">
                <a:solidFill>
                  <a:srgbClr val="1A1A1A"/>
                </a:solidFill>
                <a:latin typeface="Noto Sans"/>
                <a:ea typeface="Noto Sans"/>
                <a:cs typeface="Noto Sans"/>
                <a:sym typeface="Noto Sans"/>
              </a:rPr>
              <a:t>a</a:t>
            </a:r>
            <a:r>
              <a:rPr lang="en-US" sz="1900">
                <a:solidFill>
                  <a:srgbClr val="1A1A1A"/>
                </a:solidFill>
                <a:latin typeface="Noto Sans"/>
                <a:ea typeface="Noto Sans"/>
                <a:cs typeface="Noto Sans"/>
                <a:sym typeface="Noto Sans"/>
              </a:rPr>
              <a:t>r</a:t>
            </a:r>
            <a:r>
              <a:rPr lang="en-US" sz="1900" u="none">
                <a:solidFill>
                  <a:srgbClr val="1A1A1A"/>
                </a:solidFill>
                <a:latin typeface="Noto Sans"/>
                <a:ea typeface="Noto Sans"/>
                <a:cs typeface="Noto Sans"/>
                <a:sym typeface="Noto Sans"/>
              </a:rPr>
              <a:t>ge</a:t>
            </a:r>
            <a:r>
              <a:rPr lang="en-US" sz="1900">
                <a:solidFill>
                  <a:srgbClr val="1A1A1A"/>
                </a:solidFill>
                <a:latin typeface="Noto Sans"/>
                <a:ea typeface="Noto Sans"/>
                <a:cs typeface="Noto Sans"/>
                <a:sym typeface="Noto Sans"/>
              </a:rPr>
              <a:t>r, more diverse human motion datasets spanning age groups and health condition</a:t>
            </a:r>
            <a:r>
              <a:rPr lang="en-US" sz="1900">
                <a:solidFill>
                  <a:srgbClr val="1A1A1A"/>
                </a:solidFill>
                <a:latin typeface="Noto Sans"/>
                <a:ea typeface="Noto Sans"/>
                <a:cs typeface="Noto Sans"/>
                <a:sym typeface="Noto Sans"/>
              </a:rPr>
              <a:t>s.</a:t>
            </a:r>
          </a:p>
        </p:txBody>
      </p:sp>
      <p:sp>
        <p:nvSpPr>
          <p:cNvPr name="TextBox 109" id="109"/>
          <p:cNvSpPr txBox="true"/>
          <p:nvPr/>
        </p:nvSpPr>
        <p:spPr>
          <a:xfrm rot="0">
            <a:off x="1722767" y="19045266"/>
            <a:ext cx="6946786" cy="229368"/>
          </a:xfrm>
          <a:prstGeom prst="rect">
            <a:avLst/>
          </a:prstGeom>
        </p:spPr>
        <p:txBody>
          <a:bodyPr anchor="t" rtlCol="false" tIns="0" lIns="0" bIns="0" rIns="0">
            <a:spAutoFit/>
          </a:bodyPr>
          <a:lstStyle/>
          <a:p>
            <a:pPr algn="l">
              <a:lnSpc>
                <a:spcPts val="1686"/>
              </a:lnSpc>
            </a:pPr>
            <a:r>
              <a:rPr lang="en-US" sz="1405">
                <a:solidFill>
                  <a:srgbClr val="444444"/>
                </a:solidFill>
                <a:latin typeface="Arial"/>
                <a:ea typeface="Arial"/>
                <a:cs typeface="Arial"/>
                <a:sym typeface="Arial"/>
              </a:rPr>
              <a:t>Over-estimated β params → unrealistic proportions</a:t>
            </a:r>
          </a:p>
        </p:txBody>
      </p:sp>
      <p:sp>
        <p:nvSpPr>
          <p:cNvPr name="TextBox 110" id="110"/>
          <p:cNvSpPr txBox="true"/>
          <p:nvPr/>
        </p:nvSpPr>
        <p:spPr>
          <a:xfrm rot="0">
            <a:off x="1722767" y="19515290"/>
            <a:ext cx="6665121" cy="258048"/>
          </a:xfrm>
          <a:prstGeom prst="rect">
            <a:avLst/>
          </a:prstGeom>
        </p:spPr>
        <p:txBody>
          <a:bodyPr anchor="t" rtlCol="false" tIns="0" lIns="0" bIns="0" rIns="0">
            <a:spAutoFit/>
          </a:bodyPr>
          <a:lstStyle/>
          <a:p>
            <a:pPr algn="l">
              <a:lnSpc>
                <a:spcPts val="1927"/>
              </a:lnSpc>
            </a:pPr>
            <a:r>
              <a:rPr lang="en-US" sz="1605" b="true">
                <a:solidFill>
                  <a:srgbClr val="E67E22"/>
                </a:solidFill>
                <a:latin typeface="Arial Bold"/>
                <a:ea typeface="Arial Bold"/>
                <a:cs typeface="Arial Bold"/>
                <a:sym typeface="Arial Bold"/>
              </a:rPr>
              <a:t>Crouch Walking</a:t>
            </a:r>
          </a:p>
        </p:txBody>
      </p:sp>
      <p:sp>
        <p:nvSpPr>
          <p:cNvPr name="TextBox 111" id="111"/>
          <p:cNvSpPr txBox="true"/>
          <p:nvPr/>
        </p:nvSpPr>
        <p:spPr>
          <a:xfrm rot="0">
            <a:off x="1726138" y="19816322"/>
            <a:ext cx="6868057" cy="229368"/>
          </a:xfrm>
          <a:prstGeom prst="rect">
            <a:avLst/>
          </a:prstGeom>
        </p:spPr>
        <p:txBody>
          <a:bodyPr anchor="t" rtlCol="false" tIns="0" lIns="0" bIns="0" rIns="0">
            <a:spAutoFit/>
          </a:bodyPr>
          <a:lstStyle/>
          <a:p>
            <a:pPr algn="l">
              <a:lnSpc>
                <a:spcPts val="1686"/>
              </a:lnSpc>
            </a:pPr>
            <a:r>
              <a:rPr lang="en-US" sz="1405">
                <a:solidFill>
                  <a:srgbClr val="444444"/>
                </a:solidFill>
                <a:latin typeface="Arial"/>
                <a:ea typeface="Arial"/>
                <a:cs typeface="Arial"/>
                <a:sym typeface="Arial"/>
              </a:rPr>
              <a:t>Spurious knee flexion from marker occlusion</a:t>
            </a:r>
          </a:p>
        </p:txBody>
      </p:sp>
      <p:sp>
        <p:nvSpPr>
          <p:cNvPr name="TextBox 112" id="112"/>
          <p:cNvSpPr txBox="true"/>
          <p:nvPr/>
        </p:nvSpPr>
        <p:spPr>
          <a:xfrm rot="0">
            <a:off x="1721555" y="20535890"/>
            <a:ext cx="5462657" cy="258048"/>
          </a:xfrm>
          <a:prstGeom prst="rect">
            <a:avLst/>
          </a:prstGeom>
        </p:spPr>
        <p:txBody>
          <a:bodyPr anchor="t" rtlCol="false" tIns="0" lIns="0" bIns="0" rIns="0">
            <a:spAutoFit/>
          </a:bodyPr>
          <a:lstStyle/>
          <a:p>
            <a:pPr algn="l">
              <a:lnSpc>
                <a:spcPts val="1927"/>
              </a:lnSpc>
            </a:pPr>
            <a:r>
              <a:rPr lang="en-US" sz="1605" b="true">
                <a:solidFill>
                  <a:srgbClr val="27AE60"/>
                </a:solidFill>
                <a:latin typeface="Arial Bold"/>
                <a:ea typeface="Arial Bold"/>
                <a:cs typeface="Arial Bold"/>
                <a:sym typeface="Arial Bold"/>
              </a:rPr>
              <a:t>Our Pipeline (Vposer-based)</a:t>
            </a:r>
          </a:p>
        </p:txBody>
      </p:sp>
      <p:sp>
        <p:nvSpPr>
          <p:cNvPr name="TextBox 113" id="113"/>
          <p:cNvSpPr txBox="true"/>
          <p:nvPr/>
        </p:nvSpPr>
        <p:spPr>
          <a:xfrm rot="0">
            <a:off x="1721555" y="20916212"/>
            <a:ext cx="6947998" cy="229368"/>
          </a:xfrm>
          <a:prstGeom prst="rect">
            <a:avLst/>
          </a:prstGeom>
        </p:spPr>
        <p:txBody>
          <a:bodyPr anchor="t" rtlCol="false" tIns="0" lIns="0" bIns="0" rIns="0">
            <a:spAutoFit/>
          </a:bodyPr>
          <a:lstStyle/>
          <a:p>
            <a:pPr algn="l">
              <a:lnSpc>
                <a:spcPts val="1686"/>
              </a:lnSpc>
            </a:pPr>
            <a:r>
              <a:rPr lang="en-US" sz="1405">
                <a:solidFill>
                  <a:srgbClr val="444444"/>
                </a:solidFill>
                <a:latin typeface="Arial"/>
                <a:ea typeface="Arial"/>
                <a:cs typeface="Arial"/>
                <a:sym typeface="Arial"/>
              </a:rPr>
              <a:t>Learned pose prior regularizes solution, non-linear optimizer minizes pose difference</a:t>
            </a:r>
          </a:p>
        </p:txBody>
      </p:sp>
      <p:sp>
        <p:nvSpPr>
          <p:cNvPr name="TextBox 114" id="114"/>
          <p:cNvSpPr txBox="true"/>
          <p:nvPr/>
        </p:nvSpPr>
        <p:spPr>
          <a:xfrm rot="0">
            <a:off x="770088" y="17212141"/>
            <a:ext cx="8091514" cy="1057275"/>
          </a:xfrm>
          <a:prstGeom prst="rect">
            <a:avLst/>
          </a:prstGeom>
        </p:spPr>
        <p:txBody>
          <a:bodyPr anchor="t" rtlCol="false" tIns="0" lIns="0" bIns="0" rIns="0">
            <a:spAutoFit/>
          </a:bodyPr>
          <a:lstStyle/>
          <a:p>
            <a:pPr algn="l">
              <a:lnSpc>
                <a:spcPts val="2160"/>
              </a:lnSpc>
            </a:pPr>
            <a:r>
              <a:rPr lang="en-US" sz="1800">
                <a:solidFill>
                  <a:srgbClr val="555555"/>
                </a:solidFill>
                <a:latin typeface="Noto Sans"/>
                <a:ea typeface="Noto Sans"/>
                <a:cs typeface="Noto Sans"/>
                <a:sym typeface="Noto Sans"/>
              </a:rPr>
              <a:t>Clinical marker data are converted into a machine-learnable graph format through Vertex-based skin mapping, model fitting and feature extraction and model fitting, with noise removal and temporal smoothing to preserve motion quality. </a:t>
            </a:r>
          </a:p>
        </p:txBody>
      </p:sp>
      <p:sp>
        <p:nvSpPr>
          <p:cNvPr name="TextBox 115" id="115"/>
          <p:cNvSpPr txBox="true"/>
          <p:nvPr/>
        </p:nvSpPr>
        <p:spPr>
          <a:xfrm rot="0">
            <a:off x="21716775" y="12101117"/>
            <a:ext cx="7985533" cy="571500"/>
          </a:xfrm>
          <a:prstGeom prst="rect">
            <a:avLst/>
          </a:prstGeom>
        </p:spPr>
        <p:txBody>
          <a:bodyPr anchor="t" rtlCol="false" tIns="0" lIns="0" bIns="0" rIns="0">
            <a:spAutoFit/>
          </a:bodyPr>
          <a:lstStyle/>
          <a:p>
            <a:pPr algn="l">
              <a:lnSpc>
                <a:spcPts val="2280"/>
              </a:lnSpc>
            </a:pPr>
            <a:r>
              <a:rPr lang="en-US" sz="1900">
                <a:solidFill>
                  <a:srgbClr val="4A4A4A"/>
                </a:solidFill>
                <a:latin typeface="Noto Sans"/>
                <a:ea typeface="Noto Sans"/>
                <a:cs typeface="Noto Sans"/>
                <a:sym typeface="Noto Sans"/>
              </a:rPr>
              <a:t>The diffusion model follows the Human Motion Diffusion Model (MDM) architecture. The forward diffusion process is:</a:t>
            </a:r>
          </a:p>
        </p:txBody>
      </p:sp>
      <p:sp>
        <p:nvSpPr>
          <p:cNvPr name="TextBox 116" id="116"/>
          <p:cNvSpPr txBox="true"/>
          <p:nvPr/>
        </p:nvSpPr>
        <p:spPr>
          <a:xfrm rot="0">
            <a:off x="15586790" y="11970381"/>
            <a:ext cx="5548589" cy="1190625"/>
          </a:xfrm>
          <a:prstGeom prst="rect">
            <a:avLst/>
          </a:prstGeom>
        </p:spPr>
        <p:txBody>
          <a:bodyPr anchor="t" rtlCol="false" tIns="0" lIns="0" bIns="0" rIns="0">
            <a:spAutoFit/>
          </a:bodyPr>
          <a:lstStyle/>
          <a:p>
            <a:pPr algn="just">
              <a:lnSpc>
                <a:spcPts val="1920"/>
              </a:lnSpc>
            </a:pPr>
          </a:p>
          <a:p>
            <a:pPr algn="just">
              <a:lnSpc>
                <a:spcPts val="1920"/>
              </a:lnSpc>
            </a:pPr>
            <a:r>
              <a:rPr lang="en-US" sz="1600">
                <a:solidFill>
                  <a:srgbClr val="4A4A4A"/>
                </a:solidFill>
                <a:latin typeface="Noto Sans"/>
                <a:ea typeface="Noto Sans"/>
                <a:cs typeface="Noto Sans"/>
                <a:sym typeface="Noto Sans"/>
              </a:rPr>
              <a:t>A compact classification head (256→32→3) produces age-group predictions; the 32-dimensional penultimate layer serves as </a:t>
            </a:r>
            <a:r>
              <a:rPr lang="en-US" sz="1600" b="true">
                <a:solidFill>
                  <a:srgbClr val="E2146E"/>
                </a:solidFill>
                <a:latin typeface="Noto Sans Bold"/>
                <a:ea typeface="Noto Sans Bold"/>
                <a:cs typeface="Noto Sans Bold"/>
                <a:sym typeface="Noto Sans Bold"/>
              </a:rPr>
              <a:t>z_age</a:t>
            </a:r>
            <a:r>
              <a:rPr lang="en-US" sz="1600">
                <a:solidFill>
                  <a:srgbClr val="4A4A4A"/>
                </a:solidFill>
                <a:latin typeface="Noto Sans"/>
                <a:ea typeface="Noto Sans"/>
                <a:cs typeface="Noto Sans"/>
                <a:sym typeface="Noto Sans"/>
              </a:rPr>
              <a:t> — a biomechanically-grounded latent encoding of gait age</a:t>
            </a:r>
          </a:p>
        </p:txBody>
      </p:sp>
      <p:sp>
        <p:nvSpPr>
          <p:cNvPr name="TextBox 117" id="117"/>
          <p:cNvSpPr txBox="true"/>
          <p:nvPr/>
        </p:nvSpPr>
        <p:spPr>
          <a:xfrm rot="0">
            <a:off x="16106490" y="16458297"/>
            <a:ext cx="4698386" cy="714375"/>
          </a:xfrm>
          <a:prstGeom prst="rect">
            <a:avLst/>
          </a:prstGeom>
        </p:spPr>
        <p:txBody>
          <a:bodyPr anchor="t" rtlCol="false" tIns="0" lIns="0" bIns="0" rIns="0">
            <a:spAutoFit/>
          </a:bodyPr>
          <a:lstStyle/>
          <a:p>
            <a:pPr algn="l">
              <a:lnSpc>
                <a:spcPts val="1919"/>
              </a:lnSpc>
            </a:pPr>
            <a:r>
              <a:rPr lang="en-US" sz="1599" b="true">
                <a:solidFill>
                  <a:srgbClr val="4A4A4A"/>
                </a:solidFill>
                <a:latin typeface="Noto Sans Bold"/>
                <a:ea typeface="Noto Sans Bold"/>
                <a:cs typeface="Noto Sans Bold"/>
                <a:sym typeface="Noto Sans Bold"/>
              </a:rPr>
              <a:t>Figure: </a:t>
            </a:r>
            <a:r>
              <a:rPr lang="en-US" sz="1599">
                <a:solidFill>
                  <a:srgbClr val="4A4A4A"/>
                </a:solidFill>
                <a:latin typeface="Noto Sans"/>
                <a:ea typeface="Noto Sans"/>
                <a:cs typeface="Noto Sans"/>
                <a:sym typeface="Noto Sans"/>
              </a:rPr>
              <a:t>A single  16-dim latent embedding vector z_age, extract from skeleton motion, visualized as 4x4 grid.</a:t>
            </a:r>
          </a:p>
        </p:txBody>
      </p:sp>
      <p:sp>
        <p:nvSpPr>
          <p:cNvPr name="TextBox 118" id="118"/>
          <p:cNvSpPr txBox="true"/>
          <p:nvPr/>
        </p:nvSpPr>
        <p:spPr>
          <a:xfrm rot="0">
            <a:off x="17442033" y="39054169"/>
            <a:ext cx="12282614" cy="523875"/>
          </a:xfrm>
          <a:prstGeom prst="rect">
            <a:avLst/>
          </a:prstGeom>
        </p:spPr>
        <p:txBody>
          <a:bodyPr anchor="t" rtlCol="false" tIns="0" lIns="0" bIns="0" rIns="0">
            <a:spAutoFit/>
          </a:bodyPr>
          <a:lstStyle/>
          <a:p>
            <a:pPr algn="l">
              <a:lnSpc>
                <a:spcPts val="2160"/>
              </a:lnSpc>
            </a:pPr>
            <a:r>
              <a:rPr lang="en-US" sz="1800" i="true">
                <a:solidFill>
                  <a:srgbClr val="1A1A1A"/>
                </a:solidFill>
                <a:latin typeface="Noto Sans Italics"/>
                <a:ea typeface="Noto Sans Italics"/>
                <a:cs typeface="Noto Sans Italics"/>
                <a:sym typeface="Noto Sans Italics"/>
              </a:rPr>
              <a:t>This work was conducted at the National Research Council of Canada (NRC) under the Aging in Place (AIP) challenge program. Compute resources was provided by the </a:t>
            </a:r>
            <a:r>
              <a:rPr lang="en-US" b="true" sz="1800" i="true">
                <a:solidFill>
                  <a:srgbClr val="003355"/>
                </a:solidFill>
                <a:latin typeface="Noto Sans Bold Italics"/>
                <a:ea typeface="Noto Sans Bold Italics"/>
                <a:cs typeface="Noto Sans Bold Italics"/>
                <a:sym typeface="Noto Sans Bold Italics"/>
              </a:rPr>
              <a:t>NRC Trixie HPU cluster</a:t>
            </a:r>
            <a:r>
              <a:rPr lang="en-US" sz="1800" i="true">
                <a:solidFill>
                  <a:srgbClr val="1A1A1A"/>
                </a:solidFill>
                <a:latin typeface="Noto Sans Italics"/>
                <a:ea typeface="Noto Sans Italics"/>
                <a:cs typeface="Noto Sans Italics"/>
                <a:sym typeface="Noto Sans Italics"/>
              </a:rPr>
              <a:t>. </a:t>
            </a:r>
          </a:p>
        </p:txBody>
      </p:sp>
      <p:sp>
        <p:nvSpPr>
          <p:cNvPr name="TextBox 119" id="119"/>
          <p:cNvSpPr txBox="true"/>
          <p:nvPr/>
        </p:nvSpPr>
        <p:spPr>
          <a:xfrm rot="0">
            <a:off x="17424143" y="39634140"/>
            <a:ext cx="12148044" cy="1190625"/>
          </a:xfrm>
          <a:prstGeom prst="rect">
            <a:avLst/>
          </a:prstGeom>
        </p:spPr>
        <p:txBody>
          <a:bodyPr anchor="t" rtlCol="false" tIns="0" lIns="0" bIns="0" rIns="0">
            <a:spAutoFit/>
          </a:bodyPr>
          <a:lstStyle/>
          <a:p>
            <a:pPr algn="l">
              <a:lnSpc>
                <a:spcPts val="1920"/>
              </a:lnSpc>
            </a:pPr>
            <a:r>
              <a:rPr lang="en-US" sz="1600" b="true">
                <a:solidFill>
                  <a:srgbClr val="1A1A1A"/>
                </a:solidFill>
                <a:latin typeface="Noto Sans Bold"/>
                <a:ea typeface="Noto Sans Bold"/>
                <a:cs typeface="Noto Sans Bold"/>
                <a:sym typeface="Noto Sans Bold"/>
              </a:rPr>
              <a:t>Key references:</a:t>
            </a:r>
          </a:p>
          <a:p>
            <a:pPr algn="l">
              <a:lnSpc>
                <a:spcPts val="1920"/>
              </a:lnSpc>
            </a:pPr>
            <a:r>
              <a:rPr lang="en-US" sz="1600">
                <a:solidFill>
                  <a:srgbClr val="1A1A1A"/>
                </a:solidFill>
                <a:latin typeface="Noto Sans"/>
                <a:ea typeface="Noto Sans"/>
                <a:cs typeface="Noto Sans"/>
                <a:sym typeface="Noto Sans"/>
              </a:rPr>
              <a:t>[1] Guo et al. — Generating Diverse and Natural 3D Human Motions from Text. CVPR 2022.</a:t>
            </a:r>
          </a:p>
          <a:p>
            <a:pPr algn="l">
              <a:lnSpc>
                <a:spcPts val="1920"/>
              </a:lnSpc>
            </a:pPr>
            <a:r>
              <a:rPr lang="en-US" sz="1600">
                <a:solidFill>
                  <a:srgbClr val="1A1A1A"/>
                </a:solidFill>
                <a:latin typeface="Noto Sans"/>
                <a:ea typeface="Noto Sans"/>
                <a:cs typeface="Noto Sans"/>
                <a:sym typeface="Noto Sans"/>
              </a:rPr>
              <a:t>Tevet et al. — Human Motion Diffusion Model. ICLR 2023. </a:t>
            </a:r>
          </a:p>
          <a:p>
            <a:pPr algn="l">
              <a:lnSpc>
                <a:spcPts val="1920"/>
              </a:lnSpc>
            </a:pPr>
            <a:r>
              <a:rPr lang="en-US" sz="1600">
                <a:solidFill>
                  <a:srgbClr val="1A1A1A"/>
                </a:solidFill>
                <a:latin typeface="Noto Sans"/>
                <a:ea typeface="Noto Sans"/>
                <a:cs typeface="Noto Sans"/>
                <a:sym typeface="Noto Sans"/>
              </a:rPr>
              <a:t>[2] Yan et al. — Spatial Temporal Graph Convolutional Networks for Skeleton-Based Action Recognition. AAAI 2018</a:t>
            </a:r>
          </a:p>
          <a:p>
            <a:pPr algn="l">
              <a:lnSpc>
                <a:spcPts val="1920"/>
              </a:lnSpc>
            </a:pPr>
            <a:r>
              <a:rPr lang="en-US" sz="1600">
                <a:solidFill>
                  <a:srgbClr val="1A1A1A"/>
                </a:solidFill>
                <a:latin typeface="Noto Sans"/>
                <a:ea typeface="Noto Sans"/>
                <a:cs typeface="Noto Sans"/>
                <a:sym typeface="Noto Sans"/>
              </a:rPr>
              <a:t>[3] Van Criekinge et al. —  A motion capture gait dataset of 138 able-bodied adults across the life span and 50 stroke survivors.</a:t>
            </a:r>
          </a:p>
        </p:txBody>
      </p:sp>
      <p:sp>
        <p:nvSpPr>
          <p:cNvPr name="TextBox 120" id="120"/>
          <p:cNvSpPr txBox="true"/>
          <p:nvPr/>
        </p:nvSpPr>
        <p:spPr>
          <a:xfrm rot="0">
            <a:off x="17165375" y="23092948"/>
            <a:ext cx="12289727" cy="942975"/>
          </a:xfrm>
          <a:prstGeom prst="rect">
            <a:avLst/>
          </a:prstGeom>
        </p:spPr>
        <p:txBody>
          <a:bodyPr anchor="t" rtlCol="false" tIns="0" lIns="0" bIns="0" rIns="0">
            <a:spAutoFit/>
          </a:bodyPr>
          <a:lstStyle/>
          <a:p>
            <a:pPr algn="l">
              <a:lnSpc>
                <a:spcPts val="2520"/>
              </a:lnSpc>
            </a:pPr>
            <a:r>
              <a:rPr lang="en-US" sz="2100">
                <a:solidFill>
                  <a:srgbClr val="4A4A4A"/>
                </a:solidFill>
                <a:latin typeface="Noto Sans"/>
                <a:ea typeface="Noto Sans"/>
                <a:cs typeface="Noto Sans"/>
                <a:sym typeface="Noto Sans"/>
              </a:rPr>
              <a:t>In the dataset, a</a:t>
            </a:r>
            <a:r>
              <a:rPr lang="en-US" sz="2100">
                <a:solidFill>
                  <a:srgbClr val="4A4A4A"/>
                </a:solidFill>
                <a:latin typeface="Noto Sans"/>
                <a:ea typeface="Noto Sans"/>
                <a:cs typeface="Noto Sans"/>
                <a:sym typeface="Noto Sans"/>
              </a:rPr>
              <a:t>ge-discriminative kinematic signals are preserved after conversion — confirming pipeline fidelity. We observe that joint angular velocity (rad/s) decreases consistently as age increase, reflecting biomechanical changes caused by aging.</a:t>
            </a:r>
          </a:p>
        </p:txBody>
      </p:sp>
      <p:sp>
        <p:nvSpPr>
          <p:cNvPr name="TextBox 121" id="121"/>
          <p:cNvSpPr txBox="true"/>
          <p:nvPr/>
        </p:nvSpPr>
        <p:spPr>
          <a:xfrm rot="0">
            <a:off x="25600631" y="24455023"/>
            <a:ext cx="3446636" cy="311533"/>
          </a:xfrm>
          <a:prstGeom prst="rect">
            <a:avLst/>
          </a:prstGeom>
        </p:spPr>
        <p:txBody>
          <a:bodyPr anchor="t" rtlCol="false" tIns="0" lIns="0" bIns="0" rIns="0">
            <a:spAutoFit/>
          </a:bodyPr>
          <a:lstStyle/>
          <a:p>
            <a:pPr algn="l">
              <a:lnSpc>
                <a:spcPts val="2228"/>
              </a:lnSpc>
            </a:pPr>
            <a:r>
              <a:rPr lang="en-US" sz="1856" b="true">
                <a:solidFill>
                  <a:srgbClr val="C05050"/>
                </a:solidFill>
                <a:latin typeface="Arial Bold"/>
                <a:ea typeface="Arial Bold"/>
                <a:cs typeface="Arial Bold"/>
                <a:sym typeface="Arial Bold"/>
              </a:rPr>
              <a:t>Age 78 (Elderly)</a:t>
            </a:r>
          </a:p>
        </p:txBody>
      </p:sp>
      <p:sp>
        <p:nvSpPr>
          <p:cNvPr name="TextBox 122" id="122"/>
          <p:cNvSpPr txBox="true"/>
          <p:nvPr/>
        </p:nvSpPr>
        <p:spPr>
          <a:xfrm rot="0">
            <a:off x="25600631" y="24918344"/>
            <a:ext cx="3558856" cy="537807"/>
          </a:xfrm>
          <a:prstGeom prst="rect">
            <a:avLst/>
          </a:prstGeom>
        </p:spPr>
        <p:txBody>
          <a:bodyPr anchor="t" rtlCol="false" tIns="0" lIns="0" bIns="0" rIns="0">
            <a:spAutoFit/>
          </a:bodyPr>
          <a:lstStyle/>
          <a:p>
            <a:pPr algn="l">
              <a:lnSpc>
                <a:spcPts val="2079"/>
              </a:lnSpc>
            </a:pPr>
            <a:r>
              <a:rPr lang="en-US" sz="1732">
                <a:solidFill>
                  <a:srgbClr val="333333"/>
                </a:solidFill>
                <a:latin typeface="Arial"/>
                <a:ea typeface="Arial"/>
                <a:cs typeface="Arial"/>
                <a:sym typeface="Arial"/>
              </a:rPr>
              <a:t>• Reduced peak velocity</a:t>
            </a:r>
          </a:p>
          <a:p>
            <a:pPr algn="l">
              <a:lnSpc>
                <a:spcPts val="2079"/>
              </a:lnSpc>
            </a:pPr>
            <a:r>
              <a:rPr lang="en-US" sz="1732">
                <a:solidFill>
                  <a:srgbClr val="333333"/>
                </a:solidFill>
                <a:latin typeface="Arial"/>
                <a:ea typeface="Arial"/>
                <a:cs typeface="Arial"/>
                <a:sym typeface="Arial"/>
              </a:rPr>
              <a:t>• Lower amplitude across joints</a:t>
            </a:r>
          </a:p>
        </p:txBody>
      </p:sp>
      <p:sp>
        <p:nvSpPr>
          <p:cNvPr name="TextBox 123" id="123"/>
          <p:cNvSpPr txBox="true"/>
          <p:nvPr/>
        </p:nvSpPr>
        <p:spPr>
          <a:xfrm rot="0">
            <a:off x="20804876" y="24421143"/>
            <a:ext cx="3926210" cy="258502"/>
          </a:xfrm>
          <a:prstGeom prst="rect">
            <a:avLst/>
          </a:prstGeom>
        </p:spPr>
        <p:txBody>
          <a:bodyPr anchor="t" rtlCol="false" tIns="0" lIns="0" bIns="0" rIns="0">
            <a:spAutoFit/>
          </a:bodyPr>
          <a:lstStyle/>
          <a:p>
            <a:pPr algn="l">
              <a:lnSpc>
                <a:spcPts val="2228"/>
              </a:lnSpc>
            </a:pPr>
            <a:r>
              <a:rPr lang="en-US" sz="1856" b="true">
                <a:solidFill>
                  <a:srgbClr val="27AE60"/>
                </a:solidFill>
                <a:latin typeface="Arial Bold"/>
                <a:ea typeface="Arial Bold"/>
                <a:cs typeface="Arial Bold"/>
                <a:sym typeface="Arial Bold"/>
              </a:rPr>
              <a:t>Age 24 (Young)</a:t>
            </a:r>
          </a:p>
        </p:txBody>
      </p:sp>
      <p:sp>
        <p:nvSpPr>
          <p:cNvPr name="TextBox 124" id="124"/>
          <p:cNvSpPr txBox="true"/>
          <p:nvPr/>
        </p:nvSpPr>
        <p:spPr>
          <a:xfrm rot="0">
            <a:off x="20740758" y="24813864"/>
            <a:ext cx="3926210" cy="1018989"/>
          </a:xfrm>
          <a:prstGeom prst="rect">
            <a:avLst/>
          </a:prstGeom>
        </p:spPr>
        <p:txBody>
          <a:bodyPr anchor="t" rtlCol="false" tIns="0" lIns="0" bIns="0" rIns="0">
            <a:spAutoFit/>
          </a:bodyPr>
          <a:lstStyle/>
          <a:p>
            <a:pPr algn="l">
              <a:lnSpc>
                <a:spcPts val="2079"/>
              </a:lnSpc>
            </a:pPr>
            <a:r>
              <a:rPr lang="en-US" sz="1732">
                <a:solidFill>
                  <a:srgbClr val="333333"/>
                </a:solidFill>
                <a:latin typeface="Arial"/>
                <a:ea typeface="Arial"/>
                <a:cs typeface="Arial"/>
                <a:sym typeface="Arial"/>
              </a:rPr>
              <a:t>• Higher peak velocities</a:t>
            </a:r>
          </a:p>
          <a:p>
            <a:pPr algn="l">
              <a:lnSpc>
                <a:spcPts val="2079"/>
              </a:lnSpc>
            </a:pPr>
            <a:r>
              <a:rPr lang="en-US" sz="1732">
                <a:solidFill>
                  <a:srgbClr val="333333"/>
                </a:solidFill>
                <a:latin typeface="Arial"/>
                <a:ea typeface="Arial"/>
                <a:cs typeface="Arial"/>
                <a:sym typeface="Arial"/>
              </a:rPr>
              <a:t>• Standard gait pattern</a:t>
            </a:r>
          </a:p>
        </p:txBody>
      </p:sp>
      <p:sp>
        <p:nvSpPr>
          <p:cNvPr name="TextBox 125" id="125"/>
          <p:cNvSpPr txBox="true"/>
          <p:nvPr/>
        </p:nvSpPr>
        <p:spPr>
          <a:xfrm rot="0">
            <a:off x="969385" y="35454822"/>
            <a:ext cx="4901801" cy="4791075"/>
          </a:xfrm>
          <a:prstGeom prst="rect">
            <a:avLst/>
          </a:prstGeom>
        </p:spPr>
        <p:txBody>
          <a:bodyPr anchor="t" rtlCol="false" tIns="0" lIns="0" bIns="0" rIns="0">
            <a:spAutoFit/>
          </a:bodyPr>
          <a:lstStyle/>
          <a:p>
            <a:pPr algn="l">
              <a:lnSpc>
                <a:spcPts val="2160"/>
              </a:lnSpc>
            </a:pPr>
            <a:r>
              <a:rPr lang="en-US" sz="1800" b="true">
                <a:solidFill>
                  <a:srgbClr val="1A1A1A"/>
                </a:solidFill>
                <a:latin typeface="Noto Sans Bold"/>
                <a:ea typeface="Noto Sans Bold"/>
                <a:cs typeface="Noto Sans Bold"/>
                <a:sym typeface="Noto Sans Bold"/>
              </a:rPr>
              <a:t>Limitations:</a:t>
            </a:r>
          </a:p>
          <a:p>
            <a:pPr algn="l">
              <a:lnSpc>
                <a:spcPts val="2160"/>
              </a:lnSpc>
            </a:pPr>
          </a:p>
          <a:p>
            <a:pPr algn="l" marL="388620" indent="-194310" lvl="1">
              <a:lnSpc>
                <a:spcPts val="2160"/>
              </a:lnSpc>
              <a:buFont typeface="Arial"/>
              <a:buChar char="•"/>
            </a:pPr>
            <a:r>
              <a:rPr lang="en-US" sz="1800">
                <a:solidFill>
                  <a:srgbClr val="1A1A1A"/>
                </a:solidFill>
                <a:latin typeface="Noto Sans"/>
                <a:ea typeface="Noto Sans"/>
                <a:cs typeface="Noto Sans"/>
                <a:sym typeface="Noto Sans"/>
              </a:rPr>
              <a:t>Small and imbalanced dataset: 450 clips from 138 subjects inevitably leads to ST-GCN overfitting, with Adult mid-range subjects being the primary misclassification failure mode.</a:t>
            </a:r>
          </a:p>
          <a:p>
            <a:pPr algn="l" marL="388620" indent="-194310" lvl="1">
              <a:lnSpc>
                <a:spcPts val="2160"/>
              </a:lnSpc>
              <a:buFont typeface="Arial"/>
              <a:buChar char="•"/>
            </a:pPr>
            <a:r>
              <a:rPr lang="en-US" sz="1800">
                <a:solidFill>
                  <a:srgbClr val="1A1A1A"/>
                </a:solidFill>
                <a:latin typeface="Noto Sans"/>
                <a:ea typeface="Noto Sans"/>
                <a:cs typeface="Noto Sans"/>
                <a:sym typeface="Noto Sans"/>
              </a:rPr>
              <a:t>Current LoRA prototype conditions generation on discrete age tokens (Young / Mid / Elderly), which is too coarse to capture gradual, individual-level biomechanical change.</a:t>
            </a:r>
          </a:p>
          <a:p>
            <a:pPr algn="l" marL="388620" indent="-194310" lvl="1">
              <a:lnSpc>
                <a:spcPts val="2160"/>
              </a:lnSpc>
              <a:buFont typeface="Arial"/>
              <a:buChar char="•"/>
            </a:pPr>
            <a:r>
              <a:rPr lang="en-US" sz="1800">
                <a:solidFill>
                  <a:srgbClr val="1A1A1A"/>
                </a:solidFill>
                <a:latin typeface="Noto Sans"/>
                <a:ea typeface="Noto Sans"/>
                <a:cs typeface="Noto Sans"/>
                <a:sym typeface="Noto Sans"/>
              </a:rPr>
              <a:t>Diffusion stochasticity overwhelms the conditioning signal for temporal gait regularity, producing stride variability that uniformly overshoots clinical baselines.</a:t>
            </a:r>
          </a:p>
          <a:p>
            <a:pPr algn="l">
              <a:lnSpc>
                <a:spcPts val="2160"/>
              </a:lnSpc>
            </a:pPr>
          </a:p>
        </p:txBody>
      </p:sp>
      <p:sp>
        <p:nvSpPr>
          <p:cNvPr name="TextBox 126" id="126"/>
          <p:cNvSpPr txBox="true"/>
          <p:nvPr/>
        </p:nvSpPr>
        <p:spPr>
          <a:xfrm rot="0">
            <a:off x="6233136" y="35354031"/>
            <a:ext cx="5636985" cy="5324475"/>
          </a:xfrm>
          <a:prstGeom prst="rect">
            <a:avLst/>
          </a:prstGeom>
        </p:spPr>
        <p:txBody>
          <a:bodyPr anchor="t" rtlCol="false" tIns="0" lIns="0" bIns="0" rIns="0">
            <a:spAutoFit/>
          </a:bodyPr>
          <a:lstStyle/>
          <a:p>
            <a:pPr algn="l">
              <a:lnSpc>
                <a:spcPts val="2160"/>
              </a:lnSpc>
            </a:pPr>
            <a:r>
              <a:rPr lang="en-US" sz="1800" b="true">
                <a:solidFill>
                  <a:srgbClr val="1A1A1A"/>
                </a:solidFill>
                <a:latin typeface="Noto Sans Bold"/>
                <a:ea typeface="Noto Sans Bold"/>
                <a:cs typeface="Noto Sans Bold"/>
                <a:sym typeface="Noto Sans Bold"/>
              </a:rPr>
              <a:t>Future Directions:</a:t>
            </a:r>
          </a:p>
          <a:p>
            <a:pPr algn="l">
              <a:lnSpc>
                <a:spcPts val="2160"/>
              </a:lnSpc>
            </a:pPr>
          </a:p>
          <a:p>
            <a:pPr algn="l" marL="388620" indent="-194310" lvl="1">
              <a:lnSpc>
                <a:spcPts val="2160"/>
              </a:lnSpc>
              <a:buFont typeface="Arial"/>
              <a:buChar char="•"/>
            </a:pPr>
            <a:r>
              <a:rPr lang="en-US" sz="1800">
                <a:solidFill>
                  <a:srgbClr val="1A1A1A"/>
                </a:solidFill>
                <a:latin typeface="Noto Sans"/>
                <a:ea typeface="Noto Sans"/>
                <a:cs typeface="Noto Sans"/>
                <a:sym typeface="Noto Sans"/>
              </a:rPr>
              <a:t> The natural next step is to replace discrete token conditioning with continuous latent conditioning: the 32-dimensional z_age embedding extracted from the ST-GCN bottleneck layer will be injected directly into the MDM cross-attention layers, enabling generation to be steered by a biomechanically grounded, subject-specific age representation rather than a coarse category label. </a:t>
            </a:r>
          </a:p>
          <a:p>
            <a:pPr algn="l" marL="388620" indent="-194310" lvl="1">
              <a:lnSpc>
                <a:spcPts val="2160"/>
              </a:lnSpc>
              <a:buFont typeface="Arial"/>
              <a:buChar char="•"/>
            </a:pPr>
            <a:r>
              <a:rPr lang="en-US" sz="1800">
                <a:solidFill>
                  <a:srgbClr val="1A1A1A"/>
                </a:solidFill>
                <a:latin typeface="Noto Sans"/>
                <a:ea typeface="Noto Sans"/>
                <a:cs typeface="Noto Sans"/>
                <a:sym typeface="Noto Sans"/>
              </a:rPr>
              <a:t>More broadly, this work motivates the collection of larger, higher-quality human motion datasets spanning older adults, varying health conditions, and daily living activities. Such datasets are essential for training demographic-aware motion priors capable of supporting safe and anticipatory human-robot interaction in aging-in-place environments.</a:t>
            </a:r>
          </a:p>
          <a:p>
            <a:pPr algn="l">
              <a:lnSpc>
                <a:spcPts val="2160"/>
              </a:lnSpc>
            </a:pPr>
          </a:p>
        </p:txBody>
      </p:sp>
      <p:sp>
        <p:nvSpPr>
          <p:cNvPr name="TextBox 127" id="127"/>
          <p:cNvSpPr txBox="true"/>
          <p:nvPr/>
        </p:nvSpPr>
        <p:spPr>
          <a:xfrm rot="0">
            <a:off x="12053640" y="39039215"/>
            <a:ext cx="4798601" cy="1190625"/>
          </a:xfrm>
          <a:prstGeom prst="rect">
            <a:avLst/>
          </a:prstGeom>
        </p:spPr>
        <p:txBody>
          <a:bodyPr anchor="t" rtlCol="false" tIns="0" lIns="0" bIns="0" rIns="0">
            <a:spAutoFit/>
          </a:bodyPr>
          <a:lstStyle/>
          <a:p>
            <a:pPr algn="l">
              <a:lnSpc>
                <a:spcPts val="1920"/>
              </a:lnSpc>
            </a:pPr>
            <a:r>
              <a:rPr lang="en-US" sz="1600" b="true">
                <a:solidFill>
                  <a:srgbClr val="4A4A4A"/>
                </a:solidFill>
                <a:latin typeface="Noto Sans Bold"/>
                <a:ea typeface="Noto Sans Bold"/>
                <a:cs typeface="Noto Sans Bold"/>
                <a:sym typeface="Noto Sans Bold"/>
              </a:rPr>
              <a:t>Figure:  </a:t>
            </a:r>
            <a:r>
              <a:rPr lang="en-US" sz="1600">
                <a:solidFill>
                  <a:srgbClr val="4A4A4A"/>
                </a:solidFill>
                <a:latin typeface="Noto Sans"/>
                <a:ea typeface="Noto Sans"/>
                <a:cs typeface="Noto Sans"/>
                <a:sym typeface="Noto Sans"/>
              </a:rPr>
              <a:t>PCA of z_age embeddings (60 subjects, ages 20–80) reveals moderate-weak age-correlated structure in the current latent space, indicating the classifier has not yet learned age-discriminative representations. </a:t>
            </a:r>
          </a:p>
        </p:txBody>
      </p:sp>
      <p:sp>
        <p:nvSpPr>
          <p:cNvPr name="TextBox 128" id="128"/>
          <p:cNvSpPr txBox="true"/>
          <p:nvPr/>
        </p:nvSpPr>
        <p:spPr>
          <a:xfrm rot="0">
            <a:off x="17142500" y="28026603"/>
            <a:ext cx="12687750" cy="2828925"/>
          </a:xfrm>
          <a:prstGeom prst="rect">
            <a:avLst/>
          </a:prstGeom>
        </p:spPr>
        <p:txBody>
          <a:bodyPr anchor="t" rtlCol="false" tIns="0" lIns="0" bIns="0" rIns="0">
            <a:spAutoFit/>
          </a:bodyPr>
          <a:lstStyle/>
          <a:p>
            <a:pPr algn="l">
              <a:lnSpc>
                <a:spcPts val="2520"/>
              </a:lnSpc>
            </a:pPr>
            <a:r>
              <a:rPr lang="en-US" sz="2100">
                <a:solidFill>
                  <a:srgbClr val="4A4A4A"/>
                </a:solidFill>
                <a:latin typeface="Noto Sans"/>
                <a:ea typeface="Noto Sans"/>
                <a:cs typeface="Noto Sans"/>
                <a:sym typeface="Noto Sans"/>
              </a:rPr>
              <a:t>Quantitative analysis of the ground-truth dataset confirms that aging signals are preserved end-to-end through the conversion pipeline: walking speed decreases from 1.22 to 1.10 m/s, stride length from 1.34 to 1.26 m, and Knee Range-of-Motion from 54.9° to 51.5° as subjects age from Young to Elderly. Critically, the LoRA-adapted generative model meaningfully reflects these differences — Elderly-conditioned clips reproduce measurably reduced joint angular velocities across the gait cycle, consistent with the dataset baseline. However, spatiotemporal consistency remains unresolved: generated stride variability uniformly overshoots clinical reference values (16–19% vs. 8.9–15% CV), revealing that diffusion stochasticity currently overwhelms the age conditioning signal for temporal gait regularity.</a:t>
            </a:r>
          </a:p>
        </p:txBody>
      </p:sp>
      <p:sp>
        <p:nvSpPr>
          <p:cNvPr name="TextBox 129" id="129"/>
          <p:cNvSpPr txBox="true"/>
          <p:nvPr/>
        </p:nvSpPr>
        <p:spPr>
          <a:xfrm rot="0">
            <a:off x="18139779" y="37426005"/>
            <a:ext cx="10593785" cy="448017"/>
          </a:xfrm>
          <a:prstGeom prst="rect">
            <a:avLst/>
          </a:prstGeom>
        </p:spPr>
        <p:txBody>
          <a:bodyPr anchor="t" rtlCol="false" tIns="0" lIns="0" bIns="0" rIns="0">
            <a:spAutoFit/>
          </a:bodyPr>
          <a:lstStyle/>
          <a:p>
            <a:pPr algn="l">
              <a:lnSpc>
                <a:spcPts val="1782"/>
              </a:lnSpc>
            </a:pPr>
            <a:r>
              <a:rPr lang="en-US" sz="1485" b="true">
                <a:solidFill>
                  <a:srgbClr val="4A4A4A"/>
                </a:solidFill>
                <a:latin typeface="Noto Sans Bold"/>
                <a:ea typeface="Noto Sans Bold"/>
                <a:cs typeface="Noto Sans Bold"/>
                <a:sym typeface="Noto Sans Bold"/>
              </a:rPr>
              <a:t>Figure: </a:t>
            </a:r>
            <a:r>
              <a:rPr lang="en-US" sz="1485">
                <a:solidFill>
                  <a:srgbClr val="4A4A4A"/>
                </a:solidFill>
                <a:latin typeface="Noto Sans"/>
                <a:ea typeface="Noto Sans"/>
                <a:cs typeface="Noto Sans"/>
                <a:sym typeface="Noto Sans"/>
              </a:rPr>
              <a:t>Distribution of Joint velocity across a normalized gait cycle for </a:t>
            </a:r>
            <a:r>
              <a:rPr lang="en-US" sz="1485" b="true">
                <a:solidFill>
                  <a:srgbClr val="E2146E"/>
                </a:solidFill>
                <a:latin typeface="Noto Sans Bold"/>
                <a:ea typeface="Noto Sans Bold"/>
                <a:cs typeface="Noto Sans Bold"/>
                <a:sym typeface="Noto Sans Bold"/>
              </a:rPr>
              <a:t>elderly (red)</a:t>
            </a:r>
            <a:r>
              <a:rPr lang="en-US" sz="1485">
                <a:solidFill>
                  <a:srgbClr val="4A4A4A"/>
                </a:solidFill>
                <a:latin typeface="Noto Sans"/>
                <a:ea typeface="Noto Sans"/>
                <a:cs typeface="Noto Sans"/>
                <a:sym typeface="Noto Sans"/>
              </a:rPr>
              <a:t> and </a:t>
            </a:r>
            <a:r>
              <a:rPr lang="en-US" sz="1485" b="true">
                <a:solidFill>
                  <a:srgbClr val="38B6FF"/>
                </a:solidFill>
                <a:latin typeface="Noto Sans Bold"/>
                <a:ea typeface="Noto Sans Bold"/>
                <a:cs typeface="Noto Sans Bold"/>
                <a:sym typeface="Noto Sans Bold"/>
              </a:rPr>
              <a:t>young (blue)</a:t>
            </a:r>
            <a:r>
              <a:rPr lang="en-US" sz="1485">
                <a:solidFill>
                  <a:srgbClr val="4A4A4A"/>
                </a:solidFill>
                <a:latin typeface="Noto Sans"/>
                <a:ea typeface="Noto Sans"/>
                <a:cs typeface="Noto Sans"/>
                <a:sym typeface="Noto Sans"/>
              </a:rPr>
              <a:t> subjects. (Left 4) </a:t>
            </a:r>
            <a:r>
              <a:rPr lang="en-US" b="true" sz="1485" u="sng">
                <a:solidFill>
                  <a:srgbClr val="4A4A4A"/>
                </a:solidFill>
                <a:latin typeface="Noto Sans Bold"/>
                <a:ea typeface="Noto Sans Bold"/>
                <a:cs typeface="Noto Sans Bold"/>
                <a:sym typeface="Noto Sans Bold"/>
              </a:rPr>
              <a:t>Dataset</a:t>
            </a:r>
            <a:r>
              <a:rPr lang="en-US" sz="1485">
                <a:solidFill>
                  <a:srgbClr val="4A4A4A"/>
                </a:solidFill>
                <a:latin typeface="Noto Sans"/>
                <a:ea typeface="Noto Sans"/>
                <a:cs typeface="Noto Sans"/>
                <a:sym typeface="Noto Sans"/>
              </a:rPr>
              <a:t>, (Right4) </a:t>
            </a:r>
            <a:r>
              <a:rPr lang="en-US" sz="1485" u="sng">
                <a:solidFill>
                  <a:srgbClr val="4A4A4A"/>
                </a:solidFill>
                <a:latin typeface="Noto Sans"/>
                <a:ea typeface="Noto Sans"/>
                <a:cs typeface="Noto Sans"/>
                <a:sym typeface="Noto Sans"/>
              </a:rPr>
              <a:t>Generated Samples </a:t>
            </a:r>
          </a:p>
        </p:txBody>
      </p:sp>
      <p:grpSp>
        <p:nvGrpSpPr>
          <p:cNvPr name="Group 130" id="130"/>
          <p:cNvGrpSpPr/>
          <p:nvPr/>
        </p:nvGrpSpPr>
        <p:grpSpPr>
          <a:xfrm rot="0">
            <a:off x="0" y="41201858"/>
            <a:ext cx="30276000" cy="1674142"/>
            <a:chOff x="0" y="0"/>
            <a:chExt cx="56119674" cy="3103194"/>
          </a:xfrm>
        </p:grpSpPr>
        <p:sp>
          <p:nvSpPr>
            <p:cNvPr name="Freeform 131" id="131">
              <a:extLst>
                <a:ext uri="{C183D7F6-B498-43B3-948B-1728B52AA6E4}">
                  <adec:decorative xmlns:adec="http://schemas.microsoft.com/office/drawing/2017/decorative" val="1"/>
                </a:ext>
              </a:extLst>
            </p:cNvPr>
            <p:cNvSpPr/>
            <p:nvPr/>
          </p:nvSpPr>
          <p:spPr>
            <a:xfrm flipH="false" flipV="false" rot="0">
              <a:off x="0" y="0"/>
              <a:ext cx="56119650" cy="3103245"/>
            </a:xfrm>
            <a:custGeom>
              <a:avLst/>
              <a:gdLst/>
              <a:ahLst/>
              <a:cxnLst/>
              <a:rect r="r" b="b" t="t" l="l"/>
              <a:pathLst>
                <a:path h="3103245" w="56119650">
                  <a:moveTo>
                    <a:pt x="0" y="0"/>
                  </a:moveTo>
                  <a:lnTo>
                    <a:pt x="56119650" y="0"/>
                  </a:lnTo>
                  <a:lnTo>
                    <a:pt x="56119650" y="3103245"/>
                  </a:lnTo>
                  <a:lnTo>
                    <a:pt x="0" y="3103245"/>
                  </a:lnTo>
                  <a:close/>
                </a:path>
              </a:pathLst>
            </a:custGeom>
            <a:solidFill>
              <a:srgbClr val="FFFFFF"/>
            </a:solidFill>
          </p:spPr>
        </p:sp>
      </p:grpSp>
      <p:grpSp>
        <p:nvGrpSpPr>
          <p:cNvPr name="Group 132" id="132"/>
          <p:cNvGrpSpPr/>
          <p:nvPr/>
        </p:nvGrpSpPr>
        <p:grpSpPr>
          <a:xfrm rot="0">
            <a:off x="1479929" y="41792942"/>
            <a:ext cx="7249533" cy="546351"/>
            <a:chOff x="0" y="0"/>
            <a:chExt cx="9757435" cy="735355"/>
          </a:xfrm>
        </p:grpSpPr>
        <p:sp>
          <p:nvSpPr>
            <p:cNvPr name="Freeform 133" id="133" descr="National Research Council Canada"/>
            <p:cNvSpPr/>
            <p:nvPr/>
          </p:nvSpPr>
          <p:spPr>
            <a:xfrm flipH="false" flipV="false" rot="0">
              <a:off x="0" y="0"/>
              <a:ext cx="9757410" cy="735330"/>
            </a:xfrm>
            <a:custGeom>
              <a:avLst/>
              <a:gdLst/>
              <a:ahLst/>
              <a:cxnLst/>
              <a:rect r="r" b="b" t="t" l="l"/>
              <a:pathLst>
                <a:path h="735330" w="9757410">
                  <a:moveTo>
                    <a:pt x="0" y="0"/>
                  </a:moveTo>
                  <a:lnTo>
                    <a:pt x="9757410" y="0"/>
                  </a:lnTo>
                  <a:lnTo>
                    <a:pt x="9757410" y="735330"/>
                  </a:lnTo>
                  <a:lnTo>
                    <a:pt x="0" y="735330"/>
                  </a:lnTo>
                  <a:lnTo>
                    <a:pt x="0" y="0"/>
                  </a:lnTo>
                  <a:close/>
                </a:path>
              </a:pathLst>
            </a:custGeom>
            <a:blipFill>
              <a:blip r:embed="rId19"/>
              <a:stretch>
                <a:fillRect l="0" t="-37" r="0" b="-41"/>
              </a:stretch>
            </a:blipFill>
          </p:spPr>
        </p:sp>
      </p:grpSp>
      <p:sp>
        <p:nvSpPr>
          <p:cNvPr name="AutoShape 134" id="134"/>
          <p:cNvSpPr/>
          <p:nvPr/>
        </p:nvSpPr>
        <p:spPr>
          <a:xfrm flipV="true">
            <a:off x="1475360" y="41326902"/>
            <a:ext cx="27305856" cy="10008"/>
          </a:xfrm>
          <a:prstGeom prst="line">
            <a:avLst/>
          </a:prstGeom>
          <a:ln cap="rnd" w="9525">
            <a:solidFill>
              <a:srgbClr val="000000"/>
            </a:solidFill>
            <a:prstDash val="solid"/>
            <a:headEnd type="none" len="sm" w="sm"/>
            <a:tailEnd type="none" len="sm" w="sm"/>
          </a:ln>
        </p:spPr>
      </p:sp>
      <p:grpSp>
        <p:nvGrpSpPr>
          <p:cNvPr name="Group 135" id="135"/>
          <p:cNvGrpSpPr/>
          <p:nvPr/>
        </p:nvGrpSpPr>
        <p:grpSpPr>
          <a:xfrm rot="0">
            <a:off x="25550823" y="41694280"/>
            <a:ext cx="3335113" cy="796617"/>
            <a:chOff x="0" y="0"/>
            <a:chExt cx="4609922" cy="1101115"/>
          </a:xfrm>
        </p:grpSpPr>
        <p:sp>
          <p:nvSpPr>
            <p:cNvPr name="Freeform 136" id="136" descr="Symbol of the Government of Canada"/>
            <p:cNvSpPr/>
            <p:nvPr/>
          </p:nvSpPr>
          <p:spPr>
            <a:xfrm flipH="false" flipV="false" rot="0">
              <a:off x="0" y="0"/>
              <a:ext cx="4609973" cy="1101090"/>
            </a:xfrm>
            <a:custGeom>
              <a:avLst/>
              <a:gdLst/>
              <a:ahLst/>
              <a:cxnLst/>
              <a:rect r="r" b="b" t="t" l="l"/>
              <a:pathLst>
                <a:path h="1101090" w="4609973">
                  <a:moveTo>
                    <a:pt x="0" y="0"/>
                  </a:moveTo>
                  <a:lnTo>
                    <a:pt x="4609973" y="0"/>
                  </a:lnTo>
                  <a:lnTo>
                    <a:pt x="4609973" y="1101090"/>
                  </a:lnTo>
                  <a:lnTo>
                    <a:pt x="0" y="1101090"/>
                  </a:lnTo>
                  <a:lnTo>
                    <a:pt x="0" y="0"/>
                  </a:lnTo>
                  <a:close/>
                </a:path>
              </a:pathLst>
            </a:custGeom>
            <a:blipFill>
              <a:blip r:embed="rId20"/>
              <a:stretch>
                <a:fillRect l="0" t="-12" r="1" b="-14"/>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DAHLLUVWVyo</dc:identifier>
  <dcterms:modified xsi:type="dcterms:W3CDTF">2011-08-01T06:04:30Z</dcterms:modified>
  <cp:revision>1</cp:revision>
  <dc:title>Poster For ICRA Portrait</dc:title>
</cp:coreProperties>
</file>