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6" r:id="rId2"/>
  </p:sldIdLst>
  <p:sldSz cx="30175200" cy="21031200"/>
  <p:notesSz cx="7315200" cy="9601200"/>
  <p:embeddedFontLst>
    <p:embeddedFont>
      <p:font typeface="Cambria Math" panose="02040503050406030204" pitchFamily="18" charset="0"/>
      <p:regular r:id="rId5"/>
    </p:embeddedFont>
    <p:embeddedFont>
      <p:font typeface="Noto Sans" panose="020B0502040504020204" pitchFamily="34" charset="0"/>
      <p:regular r:id="rId6"/>
      <p:bold r:id="rId7"/>
      <p:italic r:id="rId8"/>
      <p:boldItalic r:id="rId9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5732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04749" algn="l" rtl="0" eaLnBrk="0" fontAlgn="base" hangingPunct="0">
      <a:spcBef>
        <a:spcPct val="0"/>
      </a:spcBef>
      <a:spcAft>
        <a:spcPct val="0"/>
      </a:spcAft>
      <a:defRPr sz="5732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09499" algn="l" rtl="0" eaLnBrk="0" fontAlgn="base" hangingPunct="0">
      <a:spcBef>
        <a:spcPct val="0"/>
      </a:spcBef>
      <a:spcAft>
        <a:spcPct val="0"/>
      </a:spcAft>
      <a:defRPr sz="5732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914248" algn="l" rtl="0" eaLnBrk="0" fontAlgn="base" hangingPunct="0">
      <a:spcBef>
        <a:spcPct val="0"/>
      </a:spcBef>
      <a:spcAft>
        <a:spcPct val="0"/>
      </a:spcAft>
      <a:defRPr sz="5732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218997" algn="l" rtl="0" eaLnBrk="0" fontAlgn="base" hangingPunct="0">
      <a:spcBef>
        <a:spcPct val="0"/>
      </a:spcBef>
      <a:spcAft>
        <a:spcPct val="0"/>
      </a:spcAft>
      <a:defRPr sz="5732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523746" algn="l" defTabSz="609499" rtl="0" eaLnBrk="1" latinLnBrk="0" hangingPunct="1">
      <a:defRPr sz="5732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1828495" algn="l" defTabSz="609499" rtl="0" eaLnBrk="1" latinLnBrk="0" hangingPunct="1">
      <a:defRPr sz="5732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2133244" algn="l" defTabSz="609499" rtl="0" eaLnBrk="1" latinLnBrk="0" hangingPunct="1">
      <a:defRPr sz="5732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2437993" algn="l" defTabSz="609499" rtl="0" eaLnBrk="1" latinLnBrk="0" hangingPunct="1">
      <a:defRPr sz="5732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19008" userDrawn="1">
          <p15:clr>
            <a:srgbClr val="A4A3A4"/>
          </p15:clr>
        </p15:guide>
        <p15:guide id="3" pos="990" userDrawn="1">
          <p15:clr>
            <a:srgbClr val="A4A3A4"/>
          </p15:clr>
        </p15:guide>
        <p15:guide id="4" pos="4802" userDrawn="1">
          <p15:clr>
            <a:srgbClr val="A4A3A4"/>
          </p15:clr>
        </p15:guide>
        <p15:guide id="5" pos="5396" userDrawn="1">
          <p15:clr>
            <a:srgbClr val="A4A3A4"/>
          </p15:clr>
        </p15:guide>
        <p15:guide id="6" pos="9207" userDrawn="1">
          <p15:clr>
            <a:srgbClr val="A4A3A4"/>
          </p15:clr>
        </p15:guide>
        <p15:guide id="7" pos="9801" userDrawn="1">
          <p15:clr>
            <a:srgbClr val="A4A3A4"/>
          </p15:clr>
        </p15:guide>
        <p15:guide id="8" pos="15310" userDrawn="1">
          <p15:clr>
            <a:srgbClr val="A4A3A4"/>
          </p15:clr>
        </p15:guide>
        <p15:guide id="9" pos="14207" userDrawn="1">
          <p15:clr>
            <a:srgbClr val="A4A3A4"/>
          </p15:clr>
        </p15:guide>
        <p15:guide id="10" pos="18018" userDrawn="1">
          <p15:clr>
            <a:srgbClr val="A4A3A4"/>
          </p15:clr>
        </p15:guide>
        <p15:guide id="11" orient="horz" userDrawn="1">
          <p15:clr>
            <a:srgbClr val="A4A3A4"/>
          </p15:clr>
        </p15:guide>
        <p15:guide id="12" orient="horz" pos="13248" userDrawn="1">
          <p15:clr>
            <a:srgbClr val="A4A3A4"/>
          </p15:clr>
        </p15:guide>
        <p15:guide id="13" orient="horz" pos="2950" userDrawn="1">
          <p15:clr>
            <a:srgbClr val="A4A3A4"/>
          </p15:clr>
        </p15:guide>
        <p15:guide id="14" orient="horz" pos="117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0B3C"/>
    <a:srgbClr val="AC03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A0CB59-EE8B-E141-98FD-FB95422A0FFE}" v="1" dt="2026-03-14T18:49:32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1" autoAdjust="0"/>
    <p:restoredTop sz="96064" autoAdjust="0"/>
  </p:normalViewPr>
  <p:slideViewPr>
    <p:cSldViewPr>
      <p:cViewPr varScale="1">
        <p:scale>
          <a:sx n="33" d="100"/>
          <a:sy n="33" d="100"/>
        </p:scale>
        <p:origin x="186" y="156"/>
      </p:cViewPr>
      <p:guideLst>
        <p:guide/>
        <p:guide pos="19008"/>
        <p:guide pos="990"/>
        <p:guide pos="4802"/>
        <p:guide pos="5396"/>
        <p:guide pos="9207"/>
        <p:guide pos="9801"/>
        <p:guide pos="15310"/>
        <p:guide pos="14207"/>
        <p:guide pos="18018"/>
        <p:guide orient="horz"/>
        <p:guide orient="horz" pos="13248"/>
        <p:guide orient="horz" pos="2950"/>
        <p:guide orient="horz" pos="117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4602" y="-54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ran Liu" userId="824a3bc9-dd6b-48e6-a2bb-ebfbe95db375" providerId="ADAL" clId="{7B10352C-D45A-585A-BCD4-EA4F640466A1}"/>
    <pc:docChg chg="custSel modSld">
      <pc:chgData name="Yiran Liu" userId="824a3bc9-dd6b-48e6-a2bb-ebfbe95db375" providerId="ADAL" clId="{7B10352C-D45A-585A-BCD4-EA4F640466A1}" dt="2026-03-14T18:49:50.109" v="0" actId="478"/>
      <pc:docMkLst>
        <pc:docMk/>
      </pc:docMkLst>
      <pc:sldChg chg="delSp mod">
        <pc:chgData name="Yiran Liu" userId="824a3bc9-dd6b-48e6-a2bb-ebfbe95db375" providerId="ADAL" clId="{7B10352C-D45A-585A-BCD4-EA4F640466A1}" dt="2026-03-14T18:49:50.109" v="0" actId="478"/>
        <pc:sldMkLst>
          <pc:docMk/>
          <pc:sldMk cId="3940205781" sldId="266"/>
        </pc:sldMkLst>
        <pc:picChg chg="del">
          <ac:chgData name="Yiran Liu" userId="824a3bc9-dd6b-48e6-a2bb-ebfbe95db375" providerId="ADAL" clId="{7B10352C-D45A-585A-BCD4-EA4F640466A1}" dt="2026-03-14T18:49:50.109" v="0" actId="478"/>
          <ac:picMkLst>
            <pc:docMk/>
            <pc:sldMk cId="3940205781" sldId="266"/>
            <ac:picMk id="100" creationId="{E633993E-D377-4175-83A9-24865D777BA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04C4E6-3B88-0C6E-ED6F-8D2302C89B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175" cy="480472"/>
          </a:xfrm>
          <a:prstGeom prst="rect">
            <a:avLst/>
          </a:prstGeom>
        </p:spPr>
        <p:txBody>
          <a:bodyPr vert="horz" lIns="64694" tIns="32347" rIns="64694" bIns="32347" rtlCol="0"/>
          <a:lstStyle>
            <a:lvl1pPr algn="l" eaLnBrk="1" hangingPunct="1"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C57B16-78A8-2729-D31A-3DD9713B6E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753" y="1"/>
            <a:ext cx="3170175" cy="480472"/>
          </a:xfrm>
          <a:prstGeom prst="rect">
            <a:avLst/>
          </a:prstGeom>
        </p:spPr>
        <p:txBody>
          <a:bodyPr vert="horz" lIns="64694" tIns="32347" rIns="64694" bIns="32347" rtlCol="0"/>
          <a:lstStyle>
            <a:lvl1pPr algn="r" eaLnBrk="1" hangingPunct="1">
              <a:defRPr sz="800">
                <a:latin typeface="Arial" charset="0"/>
              </a:defRPr>
            </a:lvl1pPr>
          </a:lstStyle>
          <a:p>
            <a:pPr>
              <a:defRPr/>
            </a:pPr>
            <a:fld id="{3657AA19-3F2B-9947-B2C8-6F1A037E19AA}" type="datetimeFigureOut">
              <a:rPr lang="en-US"/>
              <a:pPr>
                <a:defRPr/>
              </a:pPr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67B14-CD33-8A5B-E93A-023B6EDB52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697"/>
            <a:ext cx="3170175" cy="479441"/>
          </a:xfrm>
          <a:prstGeom prst="rect">
            <a:avLst/>
          </a:prstGeom>
        </p:spPr>
        <p:txBody>
          <a:bodyPr vert="horz" lIns="64694" tIns="32347" rIns="64694" bIns="32347" rtlCol="0" anchor="b"/>
          <a:lstStyle>
            <a:lvl1pPr algn="l" eaLnBrk="1" hangingPunct="1"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C66C4-6B49-1BE3-24B4-669C29E51D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753" y="9119697"/>
            <a:ext cx="3170175" cy="479441"/>
          </a:xfrm>
          <a:prstGeom prst="rect">
            <a:avLst/>
          </a:prstGeom>
        </p:spPr>
        <p:txBody>
          <a:bodyPr vert="horz" wrap="square" lIns="64694" tIns="32347" rIns="64694" bIns="3234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/>
            </a:lvl1pPr>
          </a:lstStyle>
          <a:p>
            <a:pPr>
              <a:defRPr/>
            </a:pPr>
            <a:fld id="{9D01DAC1-259B-4E4E-995C-E1A58C4F09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CB8755-9A28-F16E-2433-9630A0E673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175" cy="480472"/>
          </a:xfrm>
          <a:prstGeom prst="rect">
            <a:avLst/>
          </a:prstGeom>
        </p:spPr>
        <p:txBody>
          <a:bodyPr vert="horz" lIns="64694" tIns="32347" rIns="64694" bIns="32347" rtlCol="0"/>
          <a:lstStyle>
            <a:lvl1pPr algn="l" eaLnBrk="1" hangingPunct="1">
              <a:defRPr sz="8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E14C2-2D52-0CCA-E65B-BEC31F82AB5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753" y="1"/>
            <a:ext cx="3170175" cy="480472"/>
          </a:xfrm>
          <a:prstGeom prst="rect">
            <a:avLst/>
          </a:prstGeom>
        </p:spPr>
        <p:txBody>
          <a:bodyPr vert="horz" lIns="64694" tIns="32347" rIns="64694" bIns="32347" rtlCol="0"/>
          <a:lstStyle>
            <a:lvl1pPr algn="r" eaLnBrk="1" hangingPunct="1">
              <a:defRPr sz="800">
                <a:latin typeface="Arial" pitchFamily="34" charset="0"/>
              </a:defRPr>
            </a:lvl1pPr>
          </a:lstStyle>
          <a:p>
            <a:pPr>
              <a:defRPr/>
            </a:pPr>
            <a:fld id="{908C0903-6D8D-9047-A95E-7AF63F70D77C}" type="datetimeFigureOut">
              <a:rPr lang="en-US"/>
              <a:pPr>
                <a:defRPr/>
              </a:pPr>
              <a:t>3/14/2026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BD63E4E-6D6D-B682-58E0-003F5D7B42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74738" y="719138"/>
            <a:ext cx="5165725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4694" tIns="32347" rIns="64694" bIns="3234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E4EAFB2-4D9F-7B24-1D00-3CCA3F276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775" y="4560364"/>
            <a:ext cx="5851651" cy="4321158"/>
          </a:xfrm>
          <a:prstGeom prst="rect">
            <a:avLst/>
          </a:prstGeom>
        </p:spPr>
        <p:txBody>
          <a:bodyPr vert="horz" lIns="64694" tIns="32347" rIns="64694" bIns="32347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8D064-2326-CB72-8324-7AEEC00590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19697"/>
            <a:ext cx="3170175" cy="479441"/>
          </a:xfrm>
          <a:prstGeom prst="rect">
            <a:avLst/>
          </a:prstGeom>
        </p:spPr>
        <p:txBody>
          <a:bodyPr vert="horz" lIns="64694" tIns="32347" rIns="64694" bIns="32347" rtlCol="0" anchor="b"/>
          <a:lstStyle>
            <a:lvl1pPr algn="l" eaLnBrk="1" hangingPunct="1">
              <a:defRPr sz="8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CC348-5F3C-C0CD-DCC1-AF5537AF9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753" y="9119697"/>
            <a:ext cx="3170175" cy="479441"/>
          </a:xfrm>
          <a:prstGeom prst="rect">
            <a:avLst/>
          </a:prstGeom>
        </p:spPr>
        <p:txBody>
          <a:bodyPr vert="horz" wrap="square" lIns="64694" tIns="32347" rIns="64694" bIns="3234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/>
            </a:lvl1pPr>
          </a:lstStyle>
          <a:p>
            <a:pPr>
              <a:defRPr/>
            </a:pPr>
            <a:fld id="{152E1937-CDD6-4147-BEB9-C5719BFF88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04749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09499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248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8997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3746" algn="l" defTabSz="6094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495" algn="l" defTabSz="6094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244" algn="l" defTabSz="6094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7993" algn="l" defTabSz="6094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19138"/>
            <a:ext cx="5165725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2E1937-CDD6-4147-BEB9-C5719BFF881D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4001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2B3D4D08-92B7-6157-F09E-077FCFEA2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85800" y="-30479"/>
            <a:ext cx="28803600" cy="3879333"/>
          </a:xfrm>
          <a:prstGeom prst="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8420" tIns="29210" rIns="58420" bIns="2921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28045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5495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50" name="Straight Connector">
            <a:extLst>
              <a:ext uri="{FF2B5EF4-FFF2-40B4-BE49-F238E27FC236}">
                <a16:creationId xmlns:a16="http://schemas.microsoft.com/office/drawing/2014/main" id="{CA3D1233-9BA0-12EF-FB34-2CCB12BA5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71600" y="1314450"/>
            <a:ext cx="27432000" cy="0"/>
          </a:xfrm>
          <a:prstGeom prst="line">
            <a:avLst/>
          </a:prstGeom>
          <a:ln w="158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National Research Council Canada Logo" descr="National Research Council Canada Logo">
            <a:extLst>
              <a:ext uri="{FF2B5EF4-FFF2-40B4-BE49-F238E27FC236}">
                <a16:creationId xmlns:a16="http://schemas.microsoft.com/office/drawing/2014/main" id="{5ADD0595-7B33-D22A-69D7-5394FC4A2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685800"/>
            <a:ext cx="2420410" cy="37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29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24" userDrawn="1">
          <p15:clr>
            <a:srgbClr val="FBAE40"/>
          </p15:clr>
        </p15:guide>
        <p15:guide id="2" pos="95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423237-BC07-022A-E8AE-964493E50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85800" y="-30479"/>
            <a:ext cx="28803600" cy="3879333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8420" tIns="29210" rIns="58420" bIns="2921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28045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5495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3" name="Straight Connector">
            <a:extLst>
              <a:ext uri="{FF2B5EF4-FFF2-40B4-BE49-F238E27FC236}">
                <a16:creationId xmlns:a16="http://schemas.microsoft.com/office/drawing/2014/main" id="{7217F156-0185-D2FB-410E-43BBA76CD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71600" y="1314450"/>
            <a:ext cx="27432000" cy="0"/>
          </a:xfrm>
          <a:prstGeom prst="line">
            <a:avLst/>
          </a:prstGeom>
          <a:ln w="158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National Research Council Canada Logo" descr="National Research Council Canada Logo">
            <a:extLst>
              <a:ext uri="{FF2B5EF4-FFF2-40B4-BE49-F238E27FC236}">
                <a16:creationId xmlns:a16="http://schemas.microsoft.com/office/drawing/2014/main" id="{46BD44C0-6E52-010A-9748-42DCCB173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685800"/>
            <a:ext cx="2420410" cy="37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26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35127F-6A0D-BAEE-63EE-711F5EC4A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85800" y="-30479"/>
            <a:ext cx="28803600" cy="387933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8420" tIns="29210" rIns="58420" bIns="2921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28045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5495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3" name="Straight Connector">
            <a:extLst>
              <a:ext uri="{FF2B5EF4-FFF2-40B4-BE49-F238E27FC236}">
                <a16:creationId xmlns:a16="http://schemas.microsoft.com/office/drawing/2014/main" id="{555335D7-4DD8-D626-1B8C-9DF6D1F67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71600" y="1314450"/>
            <a:ext cx="27432000" cy="0"/>
          </a:xfrm>
          <a:prstGeom prst="line">
            <a:avLst/>
          </a:prstGeom>
          <a:ln w="158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National Research Council Canada Logo" descr="National Research Council Canada Logo">
            <a:extLst>
              <a:ext uri="{FF2B5EF4-FFF2-40B4-BE49-F238E27FC236}">
                <a16:creationId xmlns:a16="http://schemas.microsoft.com/office/drawing/2014/main" id="{4F93E0ED-1765-E741-C094-D9FC2741D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685800"/>
            <a:ext cx="2420410" cy="37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8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51F6FC-04EF-E0D9-E63E-9477F5519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85800" y="-30479"/>
            <a:ext cx="28803600" cy="3879333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8420" tIns="29210" rIns="58420" bIns="2921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28045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5495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3" name="Straight Connector">
            <a:extLst>
              <a:ext uri="{FF2B5EF4-FFF2-40B4-BE49-F238E27FC236}">
                <a16:creationId xmlns:a16="http://schemas.microsoft.com/office/drawing/2014/main" id="{69DF0253-0A32-D55C-F69F-3F5288E02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71600" y="1314450"/>
            <a:ext cx="27432000" cy="0"/>
          </a:xfrm>
          <a:prstGeom prst="line">
            <a:avLst/>
          </a:prstGeom>
          <a:ln w="158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National Research Council Canada Logo" descr="National Research Council Canada Logo">
            <a:extLst>
              <a:ext uri="{FF2B5EF4-FFF2-40B4-BE49-F238E27FC236}">
                <a16:creationId xmlns:a16="http://schemas.microsoft.com/office/drawing/2014/main" id="{D5D9A28B-9BC8-7130-6AE0-715D631DB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685800"/>
            <a:ext cx="2420410" cy="37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6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8">
            <a:extLst>
              <a:ext uri="{FF2B5EF4-FFF2-40B4-BE49-F238E27FC236}">
                <a16:creationId xmlns:a16="http://schemas.microsoft.com/office/drawing/2014/main" id="{0247843A-1B2D-3750-E34E-A738CFDAD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7751" y="823560"/>
            <a:ext cx="14389100" cy="56432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4389438" eaLnBrk="0" hangingPunct="0">
              <a:defRPr sz="8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8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8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8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86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3067">
              <a:solidFill>
                <a:srgbClr val="000066"/>
              </a:solidFill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423B24CA-6104-B51A-E3DA-FDB6D0EF6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0" y="19408855"/>
            <a:ext cx="30195000" cy="162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5842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22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D3C351-657B-44E1-7B87-5A4958AE4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 userDrawn="1"/>
        </p:nvCxnSpPr>
        <p:spPr bwMode="auto">
          <a:xfrm flipV="1">
            <a:off x="1371600" y="19323423"/>
            <a:ext cx="27432000" cy="89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Symbol of the Government of Canada" descr="Symbol of the Government of Canada">
            <a:extLst>
              <a:ext uri="{FF2B5EF4-FFF2-40B4-BE49-F238E27FC236}">
                <a16:creationId xmlns:a16="http://schemas.microsoft.com/office/drawing/2014/main" id="{3B9AE361-48B2-200E-6C62-C6E2108D3FF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5590" y="19908028"/>
            <a:ext cx="2420410" cy="578280"/>
          </a:xfrm>
          <a:prstGeom prst="rect">
            <a:avLst/>
          </a:prstGeom>
        </p:spPr>
      </p:pic>
      <p:pic>
        <p:nvPicPr>
          <p:cNvPr id="5" name="National Research Council Canada" descr="National Research Council Canada">
            <a:extLst>
              <a:ext uri="{FF2B5EF4-FFF2-40B4-BE49-F238E27FC236}">
                <a16:creationId xmlns:a16="http://schemas.microsoft.com/office/drawing/2014/main" id="{E2EE938C-E1E9-FDC6-74AF-8A5B97F4ADC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764" y="20083988"/>
            <a:ext cx="5116035" cy="3863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8" r:id="rId3"/>
    <p:sldLayoutId id="2147483657" r:id="rId4"/>
  </p:sldLayoutIdLst>
  <p:txStyles>
    <p:titleStyle>
      <a:lvl1pPr algn="l" defTabSz="2804587" rtl="0" eaLnBrk="1" fontAlgn="base" hangingPunct="1">
        <a:spcBef>
          <a:spcPct val="0"/>
        </a:spcBef>
        <a:spcAft>
          <a:spcPct val="0"/>
        </a:spcAft>
        <a:defRPr sz="3067" b="1">
          <a:solidFill>
            <a:srgbClr val="FF0000"/>
          </a:solidFill>
          <a:latin typeface="+mj-lt"/>
          <a:ea typeface="+mj-ea"/>
          <a:cs typeface="+mj-cs"/>
        </a:defRPr>
      </a:lvl1pPr>
      <a:lvl2pPr algn="l" defTabSz="2804587" rtl="0" eaLnBrk="1" fontAlgn="base" hangingPunct="1">
        <a:spcBef>
          <a:spcPct val="0"/>
        </a:spcBef>
        <a:spcAft>
          <a:spcPct val="0"/>
        </a:spcAft>
        <a:defRPr sz="3067" b="1">
          <a:solidFill>
            <a:srgbClr val="FF0000"/>
          </a:solidFill>
          <a:latin typeface="Arial" pitchFamily="34" charset="0"/>
        </a:defRPr>
      </a:lvl2pPr>
      <a:lvl3pPr algn="l" defTabSz="2804587" rtl="0" eaLnBrk="1" fontAlgn="base" hangingPunct="1">
        <a:spcBef>
          <a:spcPct val="0"/>
        </a:spcBef>
        <a:spcAft>
          <a:spcPct val="0"/>
        </a:spcAft>
        <a:defRPr sz="3067" b="1">
          <a:solidFill>
            <a:srgbClr val="FF0000"/>
          </a:solidFill>
          <a:latin typeface="Arial" pitchFamily="34" charset="0"/>
        </a:defRPr>
      </a:lvl3pPr>
      <a:lvl4pPr algn="l" defTabSz="2804587" rtl="0" eaLnBrk="1" fontAlgn="base" hangingPunct="1">
        <a:spcBef>
          <a:spcPct val="0"/>
        </a:spcBef>
        <a:spcAft>
          <a:spcPct val="0"/>
        </a:spcAft>
        <a:defRPr sz="3067" b="1">
          <a:solidFill>
            <a:srgbClr val="FF0000"/>
          </a:solidFill>
          <a:latin typeface="Arial" pitchFamily="34" charset="0"/>
        </a:defRPr>
      </a:lvl4pPr>
      <a:lvl5pPr algn="l" defTabSz="2804587" rtl="0" eaLnBrk="1" fontAlgn="base" hangingPunct="1">
        <a:spcBef>
          <a:spcPct val="0"/>
        </a:spcBef>
        <a:spcAft>
          <a:spcPct val="0"/>
        </a:spcAft>
        <a:defRPr sz="3067" b="1">
          <a:solidFill>
            <a:srgbClr val="FF0000"/>
          </a:solidFill>
          <a:latin typeface="Arial" pitchFamily="34" charset="0"/>
        </a:defRPr>
      </a:lvl5pPr>
      <a:lvl6pPr marL="292123" algn="l" defTabSz="2804587" rtl="0" eaLnBrk="1" fontAlgn="base" hangingPunct="1">
        <a:spcBef>
          <a:spcPct val="0"/>
        </a:spcBef>
        <a:spcAft>
          <a:spcPct val="0"/>
        </a:spcAft>
        <a:defRPr sz="3067" b="1">
          <a:solidFill>
            <a:srgbClr val="FF0000"/>
          </a:solidFill>
          <a:latin typeface="Arial" pitchFamily="34" charset="0"/>
        </a:defRPr>
      </a:lvl6pPr>
      <a:lvl7pPr marL="584246" algn="l" defTabSz="2804587" rtl="0" eaLnBrk="1" fontAlgn="base" hangingPunct="1">
        <a:spcBef>
          <a:spcPct val="0"/>
        </a:spcBef>
        <a:spcAft>
          <a:spcPct val="0"/>
        </a:spcAft>
        <a:defRPr sz="3067" b="1">
          <a:solidFill>
            <a:srgbClr val="FF0000"/>
          </a:solidFill>
          <a:latin typeface="Arial" pitchFamily="34" charset="0"/>
        </a:defRPr>
      </a:lvl7pPr>
      <a:lvl8pPr marL="876370" algn="l" defTabSz="2804587" rtl="0" eaLnBrk="1" fontAlgn="base" hangingPunct="1">
        <a:spcBef>
          <a:spcPct val="0"/>
        </a:spcBef>
        <a:spcAft>
          <a:spcPct val="0"/>
        </a:spcAft>
        <a:defRPr sz="3067" b="1">
          <a:solidFill>
            <a:srgbClr val="FF0000"/>
          </a:solidFill>
          <a:latin typeface="Arial" pitchFamily="34" charset="0"/>
        </a:defRPr>
      </a:lvl8pPr>
      <a:lvl9pPr marL="1168493" algn="l" defTabSz="2804587" rtl="0" eaLnBrk="1" fontAlgn="base" hangingPunct="1">
        <a:spcBef>
          <a:spcPct val="0"/>
        </a:spcBef>
        <a:spcAft>
          <a:spcPct val="0"/>
        </a:spcAft>
        <a:defRPr sz="3067" b="1">
          <a:solidFill>
            <a:srgbClr val="FF0000"/>
          </a:solidFill>
          <a:latin typeface="Arial" pitchFamily="34" charset="0"/>
        </a:defRPr>
      </a:lvl9pPr>
    </p:titleStyle>
    <p:bodyStyle>
      <a:lvl1pPr marL="146062" indent="-146062" algn="l" defTabSz="2804587" rtl="0" eaLnBrk="1" fontAlgn="base" hangingPunct="1">
        <a:spcBef>
          <a:spcPct val="20000"/>
        </a:spcBef>
        <a:spcAft>
          <a:spcPct val="0"/>
        </a:spcAft>
        <a:buChar char="•"/>
        <a:defRPr sz="1789">
          <a:solidFill>
            <a:schemeClr val="tx1"/>
          </a:solidFill>
          <a:latin typeface="+mn-lt"/>
          <a:ea typeface="+mn-ea"/>
          <a:cs typeface="+mn-cs"/>
        </a:defRPr>
      </a:lvl1pPr>
      <a:lvl2pPr marL="401669" indent="-146062" algn="l" defTabSz="2804587" rtl="0" eaLnBrk="1" fontAlgn="base" hangingPunct="1">
        <a:spcBef>
          <a:spcPct val="20000"/>
        </a:spcBef>
        <a:spcAft>
          <a:spcPct val="0"/>
        </a:spcAft>
        <a:buChar char="–"/>
        <a:defRPr sz="1789">
          <a:solidFill>
            <a:schemeClr val="tx1"/>
          </a:solidFill>
          <a:latin typeface="+mn-lt"/>
        </a:defRPr>
      </a:lvl2pPr>
      <a:lvl3pPr marL="730308" indent="-146062" algn="l" defTabSz="2804587" rtl="0" eaLnBrk="1" fontAlgn="base" hangingPunct="1">
        <a:spcBef>
          <a:spcPct val="20000"/>
        </a:spcBef>
        <a:spcAft>
          <a:spcPct val="0"/>
        </a:spcAft>
        <a:buChar char="•"/>
        <a:defRPr sz="1789">
          <a:solidFill>
            <a:schemeClr val="tx1"/>
          </a:solidFill>
          <a:latin typeface="+mn-lt"/>
        </a:defRPr>
      </a:lvl3pPr>
      <a:lvl4pPr marL="1022431" indent="-146062" algn="l" defTabSz="2804587" rtl="0" eaLnBrk="1" fontAlgn="base" hangingPunct="1">
        <a:spcBef>
          <a:spcPct val="20000"/>
        </a:spcBef>
        <a:spcAft>
          <a:spcPct val="0"/>
        </a:spcAft>
        <a:buChar char="–"/>
        <a:defRPr sz="1789">
          <a:solidFill>
            <a:schemeClr val="tx1"/>
          </a:solidFill>
          <a:latin typeface="+mn-lt"/>
        </a:defRPr>
      </a:lvl4pPr>
      <a:lvl5pPr marL="1314555" indent="-182577" algn="l" defTabSz="2804587" rtl="0" eaLnBrk="1" fontAlgn="base" hangingPunct="1">
        <a:spcBef>
          <a:spcPct val="20000"/>
        </a:spcBef>
        <a:spcAft>
          <a:spcPct val="0"/>
        </a:spcAft>
        <a:buChar char="»"/>
        <a:defRPr sz="1789">
          <a:solidFill>
            <a:schemeClr val="tx1"/>
          </a:solidFill>
          <a:latin typeface="+mn-lt"/>
        </a:defRPr>
      </a:lvl5pPr>
      <a:lvl6pPr marL="1606678" indent="-182577" algn="l" defTabSz="2804587" rtl="0" eaLnBrk="1" fontAlgn="base" hangingPunct="1">
        <a:spcBef>
          <a:spcPct val="20000"/>
        </a:spcBef>
        <a:spcAft>
          <a:spcPct val="0"/>
        </a:spcAft>
        <a:buChar char="»"/>
        <a:defRPr sz="1789">
          <a:solidFill>
            <a:schemeClr val="tx1"/>
          </a:solidFill>
          <a:latin typeface="+mn-lt"/>
        </a:defRPr>
      </a:lvl6pPr>
      <a:lvl7pPr marL="1898802" indent="-182577" algn="l" defTabSz="2804587" rtl="0" eaLnBrk="1" fontAlgn="base" hangingPunct="1">
        <a:spcBef>
          <a:spcPct val="20000"/>
        </a:spcBef>
        <a:spcAft>
          <a:spcPct val="0"/>
        </a:spcAft>
        <a:buChar char="»"/>
        <a:defRPr sz="1789">
          <a:solidFill>
            <a:schemeClr val="tx1"/>
          </a:solidFill>
          <a:latin typeface="+mn-lt"/>
        </a:defRPr>
      </a:lvl7pPr>
      <a:lvl8pPr marL="2190925" indent="-182577" algn="l" defTabSz="2804587" rtl="0" eaLnBrk="1" fontAlgn="base" hangingPunct="1">
        <a:spcBef>
          <a:spcPct val="20000"/>
        </a:spcBef>
        <a:spcAft>
          <a:spcPct val="0"/>
        </a:spcAft>
        <a:buChar char="»"/>
        <a:defRPr sz="1789">
          <a:solidFill>
            <a:schemeClr val="tx1"/>
          </a:solidFill>
          <a:latin typeface="+mn-lt"/>
        </a:defRPr>
      </a:lvl8pPr>
      <a:lvl9pPr marL="2483049" indent="-182577" algn="l" defTabSz="2804587" rtl="0" eaLnBrk="1" fontAlgn="base" hangingPunct="1">
        <a:spcBef>
          <a:spcPct val="20000"/>
        </a:spcBef>
        <a:spcAft>
          <a:spcPct val="0"/>
        </a:spcAft>
        <a:buChar char="»"/>
        <a:defRPr sz="1789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584246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1pPr>
      <a:lvl2pPr marL="292123" algn="l" defTabSz="584246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2pPr>
      <a:lvl3pPr marL="584246" algn="l" defTabSz="584246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3pPr>
      <a:lvl4pPr marL="876370" algn="l" defTabSz="584246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4pPr>
      <a:lvl5pPr marL="1168493" algn="l" defTabSz="584246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5pPr>
      <a:lvl6pPr marL="1460616" algn="l" defTabSz="584246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1752740" algn="l" defTabSz="584246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7pPr>
      <a:lvl8pPr marL="2044863" algn="l" defTabSz="584246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8pPr>
      <a:lvl9pPr marL="2336987" algn="l" defTabSz="584246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85">
            <a:extLst>
              <a:ext uri="{FF2B5EF4-FFF2-40B4-BE49-F238E27FC236}">
                <a16:creationId xmlns:a16="http://schemas.microsoft.com/office/drawing/2014/main" id="{164F5D58-DE0E-9965-9E62-C542088468E6}"/>
              </a:ext>
            </a:extLst>
          </p:cNvPr>
          <p:cNvSpPr/>
          <p:nvPr/>
        </p:nvSpPr>
        <p:spPr bwMode="auto">
          <a:xfrm>
            <a:off x="16315588" y="9552440"/>
            <a:ext cx="4316628" cy="1015663"/>
          </a:xfrm>
          <a:prstGeom prst="roundRect">
            <a:avLst/>
          </a:prstGeom>
          <a:solidFill>
            <a:srgbClr val="FFF8E1"/>
          </a:solidFill>
          <a:ln w="31750" cap="flat" cmpd="sng" algn="ctr">
            <a:solidFill>
              <a:srgbClr val="F9A82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4F966E2-F143-4CC3-608C-D3B112ABFFFD}"/>
              </a:ext>
            </a:extLst>
          </p:cNvPr>
          <p:cNvSpPr/>
          <p:nvPr/>
        </p:nvSpPr>
        <p:spPr bwMode="auto">
          <a:xfrm>
            <a:off x="16516356" y="16840880"/>
            <a:ext cx="4761778" cy="443472"/>
          </a:xfrm>
          <a:prstGeom prst="roundRect">
            <a:avLst/>
          </a:prstGeom>
          <a:solidFill>
            <a:srgbClr val="F5F5F5"/>
          </a:solidFill>
          <a:ln w="1270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FF0AAF6-F627-A853-3EB2-1A816D4F3E6C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1371600" y="1849710"/>
            <a:ext cx="15588208" cy="1416029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lvl1pPr algn="l" defTabSz="4023798" rtl="0" eaLnBrk="0" fontAlgn="base" hangingPunct="0">
              <a:spcBef>
                <a:spcPct val="0"/>
              </a:spcBef>
              <a:spcAft>
                <a:spcPct val="0"/>
              </a:spcAft>
              <a:defRPr sz="8600" b="1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742950" indent="-285750" algn="l" defTabSz="4023798" rtl="0" eaLnBrk="0" fontAlgn="base" hangingPunct="0">
              <a:spcBef>
                <a:spcPct val="0"/>
              </a:spcBef>
              <a:spcAft>
                <a:spcPct val="0"/>
              </a:spcAft>
              <a:defRPr sz="8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023798" rtl="0" eaLnBrk="0" fontAlgn="base" hangingPunct="0">
              <a:spcBef>
                <a:spcPct val="0"/>
              </a:spcBef>
              <a:spcAft>
                <a:spcPct val="0"/>
              </a:spcAft>
              <a:defRPr sz="8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023798" rtl="0" eaLnBrk="0" fontAlgn="base" hangingPunct="0">
              <a:spcBef>
                <a:spcPct val="0"/>
              </a:spcBef>
              <a:spcAft>
                <a:spcPct val="0"/>
              </a:spcAft>
              <a:defRPr sz="8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023798" rtl="0" eaLnBrk="0" fontAlgn="base" hangingPunct="0">
              <a:spcBef>
                <a:spcPct val="0"/>
              </a:spcBef>
              <a:spcAft>
                <a:spcPct val="0"/>
              </a:spcAft>
              <a:defRPr sz="8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defTabSz="4023798" rtl="0" eaLnBrk="0" fontAlgn="base" hangingPunct="0">
              <a:spcBef>
                <a:spcPct val="0"/>
              </a:spcBef>
              <a:spcAft>
                <a:spcPct val="0"/>
              </a:spcAft>
              <a:defRPr sz="8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defTabSz="4023798" rtl="0" eaLnBrk="0" fontAlgn="base" hangingPunct="0">
              <a:spcBef>
                <a:spcPct val="0"/>
              </a:spcBef>
              <a:spcAft>
                <a:spcPct val="0"/>
              </a:spcAft>
              <a:defRPr sz="8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defTabSz="4023798" rtl="0" eaLnBrk="0" fontAlgn="base" hangingPunct="0">
              <a:spcBef>
                <a:spcPct val="0"/>
              </a:spcBef>
              <a:spcAft>
                <a:spcPct val="0"/>
              </a:spcAft>
              <a:defRPr sz="8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defTabSz="4023798" rtl="0" eaLnBrk="0" fontAlgn="base" hangingPunct="0">
              <a:spcBef>
                <a:spcPct val="0"/>
              </a:spcBef>
              <a:spcAft>
                <a:spcPct val="0"/>
              </a:spcAft>
              <a:defRPr sz="8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58424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5112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Modeling Kinematic Signatures of Aging via Diffusion and Graph Networks</a:t>
            </a:r>
            <a:endParaRPr kumimoji="0" lang="en-US" altLang="en-US" sz="5112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Author">
            <a:extLst>
              <a:ext uri="{FF2B5EF4-FFF2-40B4-BE49-F238E27FC236}">
                <a16:creationId xmlns:a16="http://schemas.microsoft.com/office/drawing/2014/main" id="{C2EEC3F6-3754-C9E9-3076-CD8344BC2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48240" y="1550914"/>
            <a:ext cx="7955360" cy="188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Aft>
                <a:spcPts val="383"/>
              </a:spcAft>
            </a:pPr>
            <a:r>
              <a:rPr lang="en-US" altLang="en-US" sz="2800" b="1" dirty="0">
                <a:solidFill>
                  <a:schemeClr val="bg1"/>
                </a:solidFill>
              </a:rPr>
              <a:t>Yiran Liu¹'², Eugene Zhao¹'², Karim Habashy¹'², Jason Peng³, Chang Shu¹, Pengcheng Xi¹</a:t>
            </a:r>
          </a:p>
          <a:p>
            <a:pPr algn="r" eaLnBrk="1" hangingPunct="1">
              <a:spcAft>
                <a:spcPts val="383"/>
              </a:spcAft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r" eaLnBrk="1" hangingPunct="1">
              <a:spcAft>
                <a:spcPts val="383"/>
              </a:spcAft>
            </a:pPr>
            <a:r>
              <a:rPr lang="en-US" altLang="en-US" sz="2000" b="1" dirty="0">
                <a:solidFill>
                  <a:schemeClr val="bg1"/>
                </a:solidFill>
              </a:rPr>
              <a:t>¹National Research Council Canada,  ²University of Waterloo,  ³Simon Fraser University</a:t>
            </a:r>
          </a:p>
        </p:txBody>
      </p:sp>
      <p:cxnSp>
        <p:nvCxnSpPr>
          <p:cNvPr id="4" name="Line">
            <a:extLst>
              <a:ext uri="{FF2B5EF4-FFF2-40B4-BE49-F238E27FC236}">
                <a16:creationId xmlns:a16="http://schemas.microsoft.com/office/drawing/2014/main" id="{B518F815-B2BF-0C43-5D35-CB8CCF4D5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71600" y="3407833"/>
            <a:ext cx="27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EB33F21-E484-4B06-A3EB-F6933FCF4458}"/>
              </a:ext>
            </a:extLst>
          </p:cNvPr>
          <p:cNvSpPr txBox="1"/>
          <p:nvPr/>
        </p:nvSpPr>
        <p:spPr>
          <a:xfrm>
            <a:off x="13677838" y="690418"/>
            <a:ext cx="15099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spcAft>
                <a:spcPts val="383"/>
              </a:spcAft>
            </a:pPr>
            <a:r>
              <a:rPr lang="en-US" altLang="en-US" sz="2000" dirty="0">
                <a:solidFill>
                  <a:schemeClr val="bg1"/>
                </a:solidFill>
              </a:rPr>
              <a:t>3DV 2026 </a:t>
            </a:r>
            <a:r>
              <a:rPr lang="en-US" altLang="en-US" sz="2400" dirty="0">
                <a:solidFill>
                  <a:schemeClr val="bg1"/>
                </a:solidFill>
              </a:rPr>
              <a:t>Nectar</a:t>
            </a:r>
            <a:r>
              <a:rPr lang="en-US" altLang="en-US" sz="2000" dirty="0">
                <a:solidFill>
                  <a:schemeClr val="bg1"/>
                </a:solidFill>
              </a:rPr>
              <a:t> Track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12FB485-D4D7-5646-9FC4-E2476DDA1878}"/>
              </a:ext>
            </a:extLst>
          </p:cNvPr>
          <p:cNvSpPr/>
          <p:nvPr/>
        </p:nvSpPr>
        <p:spPr bwMode="auto">
          <a:xfrm>
            <a:off x="881296" y="4028600"/>
            <a:ext cx="7425884" cy="482588"/>
          </a:xfrm>
          <a:prstGeom prst="roundRect">
            <a:avLst/>
          </a:prstGeom>
          <a:solidFill>
            <a:srgbClr val="1B3A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itchFamily="34" charset="0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A3A9C-5B5A-1845-97CC-66BB50C52570}"/>
              </a:ext>
            </a:extLst>
          </p:cNvPr>
          <p:cNvSpPr txBox="1"/>
          <p:nvPr/>
        </p:nvSpPr>
        <p:spPr>
          <a:xfrm>
            <a:off x="964592" y="4668718"/>
            <a:ext cx="7426264" cy="578242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8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It is well established that aging significantly shapes human movement. Yet existing text-to-motion generative models lack the resolution to reproduce these subtle but clinically meaningful differences. We ask: </a:t>
            </a:r>
            <a:r>
              <a:rPr lang="en-US" sz="1800" i="1" dirty="0">
                <a:solidFill>
                  <a:srgbClr val="1A1A1A"/>
                </a:solidFill>
                <a:highlight>
                  <a:srgbClr val="FFFF00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can data-driven models learn age-related biomechanical variation, and generate motions that faithfully reflect those differences?</a:t>
            </a:r>
          </a:p>
          <a:p>
            <a:endParaRPr lang="en-US" sz="1800" dirty="0">
              <a:solidFill>
                <a:srgbClr val="1A1A1A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18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We present a three-component framework:</a:t>
            </a:r>
          </a:p>
          <a:p>
            <a:endParaRPr lang="en-US" sz="1800" dirty="0">
              <a:solidFill>
                <a:srgbClr val="1A1A1A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18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• A pipeline transforming clinical C3D motion-capture recordings into the machine–learnable graph representations (</a:t>
            </a:r>
            <a:r>
              <a:rPr lang="en-US" sz="1800" i="1" dirty="0">
                <a:solidFill>
                  <a:srgbClr val="0033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NTU3D</a:t>
            </a:r>
            <a:r>
              <a:rPr lang="en-US" sz="18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and </a:t>
            </a:r>
            <a:r>
              <a:rPr lang="en-US" sz="1800" i="1" dirty="0">
                <a:solidFill>
                  <a:srgbClr val="0033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HumanML3D</a:t>
            </a:r>
            <a:r>
              <a:rPr lang="en-US" sz="18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), while preserving age-related kinematic cues.
• A </a:t>
            </a:r>
            <a:r>
              <a:rPr lang="en-US" sz="1800" b="1" dirty="0" err="1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Spatio</a:t>
            </a:r>
            <a:r>
              <a:rPr lang="en-US" sz="1800" b="1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-Temporal Graph Convolutional Network</a:t>
            </a:r>
            <a:r>
              <a:rPr lang="en-US" sz="18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(ST-GCN) detects aging signature and extracts a latent age embedding </a:t>
            </a:r>
            <a:r>
              <a:rPr lang="en-US" sz="1800" b="1" u="sng" dirty="0">
                <a:solidFill>
                  <a:srgbClr val="E2146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z-age</a:t>
            </a:r>
            <a:r>
              <a:rPr lang="en-US" sz="18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from skeletal motion sequences.</a:t>
            </a:r>
          </a:p>
          <a:p>
            <a:r>
              <a:rPr lang="en-US" sz="18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
• This embedding </a:t>
            </a:r>
            <a:r>
              <a:rPr lang="en-US" sz="1800" b="1" u="sng" dirty="0">
                <a:solidFill>
                  <a:srgbClr val="E2146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z-age</a:t>
            </a:r>
            <a:r>
              <a:rPr lang="en-US" sz="18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is injected into a text-conditioned </a:t>
            </a:r>
            <a:r>
              <a:rPr lang="en-US" sz="1800" b="1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Motion</a:t>
            </a:r>
            <a:r>
              <a:rPr lang="en-US" sz="18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b="1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Diffusion Model</a:t>
            </a:r>
            <a:r>
              <a:rPr lang="en-US" sz="18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(MDM) via cross-attention, enabling age-conditioned motion generation from natural-language prompt.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84024AA-87BB-744B-B405-750EE0A17A7C}"/>
              </a:ext>
            </a:extLst>
          </p:cNvPr>
          <p:cNvSpPr/>
          <p:nvPr/>
        </p:nvSpPr>
        <p:spPr bwMode="auto">
          <a:xfrm>
            <a:off x="881296" y="10681072"/>
            <a:ext cx="7425884" cy="482600"/>
          </a:xfrm>
          <a:prstGeom prst="roundRect">
            <a:avLst/>
          </a:prstGeom>
          <a:solidFill>
            <a:srgbClr val="1B3A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4" charset="0"/>
              </a:rPr>
              <a:t>Dataset: Van </a:t>
            </a:r>
            <a:r>
              <a:rPr kumimoji="0" lang="en-US" sz="2200" b="1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itchFamily="34" charset="0"/>
              </a:rPr>
              <a:t>Criekinge</a:t>
            </a:r>
            <a:endParaRPr kumimoji="0" lang="en-US" sz="22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EF26CF-7C94-8D4A-BD8D-B1944956B968}"/>
              </a:ext>
            </a:extLst>
          </p:cNvPr>
          <p:cNvSpPr/>
          <p:nvPr/>
        </p:nvSpPr>
        <p:spPr bwMode="auto">
          <a:xfrm>
            <a:off x="6997859" y="11409784"/>
            <a:ext cx="1213566" cy="762000"/>
          </a:xfrm>
          <a:prstGeom prst="roundRect">
            <a:avLst/>
          </a:prstGeom>
          <a:solidFill>
            <a:srgbClr val="E8EDF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1B3A6B"/>
                </a:solidFill>
                <a:effectLst/>
                <a:latin typeface="Arial"/>
                <a:cs typeface="Arial"/>
              </a:rPr>
              <a:t>588
Trials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F84CB0-8D7A-B146-8AF7-2B4377404E39}"/>
              </a:ext>
            </a:extLst>
          </p:cNvPr>
          <p:cNvSpPr/>
          <p:nvPr/>
        </p:nvSpPr>
        <p:spPr bwMode="auto">
          <a:xfrm>
            <a:off x="2533551" y="11389180"/>
            <a:ext cx="1151609" cy="762000"/>
          </a:xfrm>
          <a:prstGeom prst="roundRect">
            <a:avLst/>
          </a:prstGeom>
          <a:solidFill>
            <a:srgbClr val="E8EDF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1B3A6B"/>
                </a:solidFill>
                <a:effectLst/>
                <a:latin typeface="Arial"/>
                <a:cs typeface="Arial"/>
              </a:rPr>
              <a:t>138
Subjects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76CC315-349E-264B-9A26-FFEED10E755F}"/>
              </a:ext>
            </a:extLst>
          </p:cNvPr>
          <p:cNvSpPr/>
          <p:nvPr/>
        </p:nvSpPr>
        <p:spPr bwMode="auto">
          <a:xfrm>
            <a:off x="3908609" y="11389180"/>
            <a:ext cx="1364519" cy="762000"/>
          </a:xfrm>
          <a:prstGeom prst="roundRect">
            <a:avLst/>
          </a:prstGeom>
          <a:solidFill>
            <a:srgbClr val="E8EDF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1B3A6B"/>
                </a:solidFill>
                <a:effectLst/>
                <a:latin typeface="Arial"/>
                <a:cs typeface="Arial"/>
              </a:rPr>
              <a:t>21–86
Age Range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5418E96-1D00-484B-A094-262BA51E9722}"/>
              </a:ext>
            </a:extLst>
          </p:cNvPr>
          <p:cNvSpPr/>
          <p:nvPr/>
        </p:nvSpPr>
        <p:spPr bwMode="auto">
          <a:xfrm>
            <a:off x="5523776" y="11408224"/>
            <a:ext cx="1223434" cy="762000"/>
          </a:xfrm>
          <a:prstGeom prst="roundRect">
            <a:avLst/>
          </a:prstGeom>
          <a:solidFill>
            <a:srgbClr val="E8EDF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1B3A6B"/>
                </a:solidFill>
                <a:effectLst/>
                <a:latin typeface="Arial"/>
                <a:cs typeface="Arial"/>
              </a:rPr>
              <a:t>100Hz
Capture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1C83C0-FC41-2145-A208-9FA5B4F0AA0B}"/>
              </a:ext>
            </a:extLst>
          </p:cNvPr>
          <p:cNvSpPr/>
          <p:nvPr/>
        </p:nvSpPr>
        <p:spPr bwMode="auto">
          <a:xfrm>
            <a:off x="8966920" y="4034880"/>
            <a:ext cx="12457384" cy="482600"/>
          </a:xfrm>
          <a:prstGeom prst="roundRect">
            <a:avLst/>
          </a:prstGeom>
          <a:solidFill>
            <a:srgbClr val="1B3A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4" charset="0"/>
              </a:rPr>
              <a:t>Data Pipeline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E096FCB-86A0-9D4A-981A-854A21F9C658}"/>
              </a:ext>
            </a:extLst>
          </p:cNvPr>
          <p:cNvSpPr/>
          <p:nvPr/>
        </p:nvSpPr>
        <p:spPr bwMode="auto">
          <a:xfrm>
            <a:off x="8966920" y="8936928"/>
            <a:ext cx="12457384" cy="482600"/>
          </a:xfrm>
          <a:prstGeom prst="roundRect">
            <a:avLst/>
          </a:prstGeom>
          <a:solidFill>
            <a:srgbClr val="1B3A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4" charset="0"/>
              </a:rPr>
              <a:t>Model Architecture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33306432-00D5-A24A-B7BC-FFCAD9CE95A6}"/>
              </a:ext>
            </a:extLst>
          </p:cNvPr>
          <p:cNvSpPr/>
          <p:nvPr/>
        </p:nvSpPr>
        <p:spPr bwMode="auto">
          <a:xfrm>
            <a:off x="22009349" y="4039069"/>
            <a:ext cx="7200800" cy="482588"/>
          </a:xfrm>
          <a:prstGeom prst="roundRect">
            <a:avLst/>
          </a:prstGeom>
          <a:solidFill>
            <a:srgbClr val="1B3A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4" charset="0"/>
              </a:rPr>
              <a:t>Pipeline Validation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868E4BE0-E0E8-2642-87BC-BB35DF950536}"/>
              </a:ext>
            </a:extLst>
          </p:cNvPr>
          <p:cNvSpPr/>
          <p:nvPr/>
        </p:nvSpPr>
        <p:spPr bwMode="auto">
          <a:xfrm>
            <a:off x="22060149" y="4707466"/>
            <a:ext cx="4442001" cy="1522307"/>
          </a:xfrm>
          <a:prstGeom prst="roundRect">
            <a:avLst/>
          </a:prstGeom>
          <a:solidFill>
            <a:srgbClr val="FDE8E8"/>
          </a:solidFill>
          <a:ln w="19050" cap="flat" cmpd="sng" algn="ctr">
            <a:solidFill>
              <a:srgbClr val="E74C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BCCE420-608C-D94A-8D4A-3CE570C12BDB}"/>
              </a:ext>
            </a:extLst>
          </p:cNvPr>
          <p:cNvSpPr/>
          <p:nvPr/>
        </p:nvSpPr>
        <p:spPr bwMode="auto">
          <a:xfrm>
            <a:off x="22136349" y="4834467"/>
            <a:ext cx="457200" cy="457200"/>
          </a:xfrm>
          <a:prstGeom prst="ellipse">
            <a:avLst/>
          </a:prstGeom>
          <a:solidFill>
            <a:srgbClr val="E74C3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4" charset="0"/>
              </a:rPr>
              <a:t>⚠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5B9BDC-315E-044D-AD17-5F2FBB738947}"/>
              </a:ext>
            </a:extLst>
          </p:cNvPr>
          <p:cNvSpPr txBox="1"/>
          <p:nvPr/>
        </p:nvSpPr>
        <p:spPr>
          <a:xfrm>
            <a:off x="22669749" y="4758267"/>
            <a:ext cx="4227163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E74C3C"/>
                </a:solidFill>
                <a:latin typeface="Arial"/>
                <a:cs typeface="Arial"/>
              </a:rPr>
              <a:t>Mesh Inflation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89A49F-1F06-8E48-AFD5-153F68B5E717}"/>
              </a:ext>
            </a:extLst>
          </p:cNvPr>
          <p:cNvSpPr txBox="1"/>
          <p:nvPr/>
        </p:nvSpPr>
        <p:spPr>
          <a:xfrm>
            <a:off x="22669750" y="5063067"/>
            <a:ext cx="3875184" cy="26270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Over-estimated </a:t>
            </a:r>
            <a:r>
              <a:rPr lang="el-GR" sz="1400" dirty="0">
                <a:solidFill>
                  <a:srgbClr val="444444"/>
                </a:solidFill>
                <a:latin typeface="Arial"/>
                <a:cs typeface="Arial"/>
              </a:rPr>
              <a:t>β </a:t>
            </a:r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params → unrealistic proportions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D0726D2-60DD-D34D-AA00-1FEC864A6CAC}"/>
              </a:ext>
            </a:extLst>
          </p:cNvPr>
          <p:cNvSpPr/>
          <p:nvPr/>
        </p:nvSpPr>
        <p:spPr bwMode="auto">
          <a:xfrm>
            <a:off x="22136349" y="5631806"/>
            <a:ext cx="457200" cy="457200"/>
          </a:xfrm>
          <a:prstGeom prst="ellipse">
            <a:avLst/>
          </a:prstGeom>
          <a:solidFill>
            <a:srgbClr val="E67E2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4" charset="0"/>
              </a:rPr>
              <a:t>⚠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EB1E460-A742-014C-B15B-C04D2778902B}"/>
              </a:ext>
            </a:extLst>
          </p:cNvPr>
          <p:cNvSpPr txBox="1"/>
          <p:nvPr/>
        </p:nvSpPr>
        <p:spPr>
          <a:xfrm>
            <a:off x="22669749" y="5555606"/>
            <a:ext cx="3723107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E67E22"/>
                </a:solidFill>
                <a:latin typeface="Arial"/>
                <a:cs typeface="Arial"/>
              </a:rPr>
              <a:t>Crouch Walking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6D38BF-1ED1-D64C-B96B-348774CA2E18}"/>
              </a:ext>
            </a:extLst>
          </p:cNvPr>
          <p:cNvSpPr txBox="1"/>
          <p:nvPr/>
        </p:nvSpPr>
        <p:spPr>
          <a:xfrm>
            <a:off x="22669749" y="5860406"/>
            <a:ext cx="3832401" cy="26270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Spurious knee flexion from marker occlusion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47EBCBFF-D838-0144-94CF-605A08279A3E}"/>
              </a:ext>
            </a:extLst>
          </p:cNvPr>
          <p:cNvSpPr/>
          <p:nvPr/>
        </p:nvSpPr>
        <p:spPr bwMode="auto">
          <a:xfrm>
            <a:off x="22060149" y="6348016"/>
            <a:ext cx="4500305" cy="711200"/>
          </a:xfrm>
          <a:prstGeom prst="roundRect">
            <a:avLst/>
          </a:prstGeom>
          <a:solidFill>
            <a:srgbClr val="E8F8E8"/>
          </a:solidFill>
          <a:ln w="19050" cap="flat" cmpd="sng" algn="ctr">
            <a:solidFill>
              <a:srgbClr val="27AE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FF3F645-37F1-9345-98BD-02425CD6E307}"/>
              </a:ext>
            </a:extLst>
          </p:cNvPr>
          <p:cNvSpPr/>
          <p:nvPr/>
        </p:nvSpPr>
        <p:spPr bwMode="auto">
          <a:xfrm>
            <a:off x="22136349" y="6475016"/>
            <a:ext cx="457200" cy="457200"/>
          </a:xfrm>
          <a:prstGeom prst="ellipse">
            <a:avLst/>
          </a:prstGeom>
          <a:solidFill>
            <a:srgbClr val="27AE6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4" charset="0"/>
              </a:rPr>
              <a:t>✓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7A78935-332D-004E-8CA1-9E9DA23F2391}"/>
              </a:ext>
            </a:extLst>
          </p:cNvPr>
          <p:cNvSpPr txBox="1"/>
          <p:nvPr/>
        </p:nvSpPr>
        <p:spPr>
          <a:xfrm>
            <a:off x="22669749" y="6398816"/>
            <a:ext cx="307503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27AE60"/>
                </a:solidFill>
                <a:latin typeface="Arial"/>
                <a:cs typeface="Arial"/>
              </a:rPr>
              <a:t>Our Pipeline (</a:t>
            </a:r>
            <a:r>
              <a:rPr lang="en-US" sz="1600" b="1" dirty="0" err="1">
                <a:solidFill>
                  <a:srgbClr val="27AE60"/>
                </a:solidFill>
                <a:latin typeface="Arial"/>
                <a:cs typeface="Arial"/>
              </a:rPr>
              <a:t>Vposer</a:t>
            </a:r>
            <a:r>
              <a:rPr lang="en-US" sz="1600" b="1" dirty="0">
                <a:solidFill>
                  <a:srgbClr val="27AE60"/>
                </a:solidFill>
                <a:latin typeface="Arial"/>
                <a:cs typeface="Arial"/>
              </a:rPr>
              <a:t>-based)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B9CCEF-8231-EE45-A08F-D9393E317322}"/>
              </a:ext>
            </a:extLst>
          </p:cNvPr>
          <p:cNvSpPr txBox="1"/>
          <p:nvPr/>
        </p:nvSpPr>
        <p:spPr>
          <a:xfrm>
            <a:off x="22669749" y="6703616"/>
            <a:ext cx="4152625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Learned pose prior regularizes solution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E1F6A3-97DF-1A39-6E40-7818CF79B2F4}"/>
              </a:ext>
            </a:extLst>
          </p:cNvPr>
          <p:cNvGrpSpPr/>
          <p:nvPr/>
        </p:nvGrpSpPr>
        <p:grpSpPr>
          <a:xfrm>
            <a:off x="26434451" y="7923312"/>
            <a:ext cx="2730318" cy="903392"/>
            <a:chOff x="20899039" y="8233878"/>
            <a:chExt cx="3582669" cy="1460029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E2966A63-24CF-884F-BAF9-334467B1D236}"/>
                </a:ext>
              </a:extLst>
            </p:cNvPr>
            <p:cNvSpPr/>
            <p:nvPr/>
          </p:nvSpPr>
          <p:spPr bwMode="auto">
            <a:xfrm>
              <a:off x="20899039" y="8233878"/>
              <a:ext cx="3582669" cy="1397000"/>
            </a:xfrm>
            <a:prstGeom prst="roundRect">
              <a:avLst/>
            </a:prstGeom>
            <a:solidFill>
              <a:srgbClr val="FDE8E8"/>
            </a:solidFill>
            <a:ln w="19050" cap="flat" cmpd="sng" algn="ctr">
              <a:solidFill>
                <a:srgbClr val="C05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Overflow="clip" horzOverflow="clip"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8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2E5CBCC-030F-8B45-81B8-2EA268E702FF}"/>
                </a:ext>
              </a:extLst>
            </p:cNvPr>
            <p:cNvSpPr txBox="1"/>
            <p:nvPr/>
          </p:nvSpPr>
          <p:spPr>
            <a:xfrm>
              <a:off x="20975240" y="8284678"/>
              <a:ext cx="3401392" cy="330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500" b="1" dirty="0">
                  <a:solidFill>
                    <a:srgbClr val="C05050"/>
                  </a:solidFill>
                  <a:latin typeface="Arial"/>
                  <a:cs typeface="Arial"/>
                </a:rPr>
                <a:t>Age 78 (Elderly)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D8C0DF6-9E84-2044-9578-15270CA6B329}"/>
                </a:ext>
              </a:extLst>
            </p:cNvPr>
            <p:cNvSpPr txBox="1"/>
            <p:nvPr/>
          </p:nvSpPr>
          <p:spPr>
            <a:xfrm>
              <a:off x="20922703" y="8703307"/>
              <a:ext cx="3506467" cy="990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400" dirty="0">
                  <a:solidFill>
                    <a:srgbClr val="333333"/>
                  </a:solidFill>
                  <a:latin typeface="Arial"/>
                  <a:cs typeface="Arial"/>
                </a:rPr>
                <a:t>• Reduced peak velocity
• Lower amplitude across joints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26BFA36-C362-BDFE-3A1C-4C9C910E1589}"/>
              </a:ext>
            </a:extLst>
          </p:cNvPr>
          <p:cNvGrpSpPr/>
          <p:nvPr/>
        </p:nvGrpSpPr>
        <p:grpSpPr>
          <a:xfrm>
            <a:off x="23728560" y="7923312"/>
            <a:ext cx="2550469" cy="957103"/>
            <a:chOff x="25064640" y="8233878"/>
            <a:chExt cx="4013200" cy="1508623"/>
          </a:xfrm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7F7B3AD0-170B-124A-9EA2-B675F2B0E780}"/>
                </a:ext>
              </a:extLst>
            </p:cNvPr>
            <p:cNvSpPr/>
            <p:nvPr/>
          </p:nvSpPr>
          <p:spPr bwMode="auto">
            <a:xfrm>
              <a:off x="25064640" y="8233878"/>
              <a:ext cx="4013200" cy="1397000"/>
            </a:xfrm>
            <a:prstGeom prst="roundRect">
              <a:avLst/>
            </a:prstGeom>
            <a:solidFill>
              <a:srgbClr val="E8F5E8"/>
            </a:solidFill>
            <a:ln w="19050" cap="flat" cmpd="sng" algn="ctr">
              <a:solidFill>
                <a:srgbClr val="27AE6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Overflow="clip" horzOverflow="clip"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8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0EBFFDE-E090-5342-B6D1-4B94459856C9}"/>
                </a:ext>
              </a:extLst>
            </p:cNvPr>
            <p:cNvSpPr txBox="1"/>
            <p:nvPr/>
          </p:nvSpPr>
          <p:spPr>
            <a:xfrm>
              <a:off x="25140840" y="8284678"/>
              <a:ext cx="38608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500" b="1" dirty="0">
                  <a:solidFill>
                    <a:srgbClr val="27AE60"/>
                  </a:solidFill>
                  <a:latin typeface="Arial"/>
                  <a:cs typeface="Arial"/>
                </a:rPr>
                <a:t>Age 24 (Young)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B1DC037-4173-524D-9A27-1CCE94205179}"/>
                </a:ext>
              </a:extLst>
            </p:cNvPr>
            <p:cNvSpPr txBox="1"/>
            <p:nvPr/>
          </p:nvSpPr>
          <p:spPr>
            <a:xfrm>
              <a:off x="25140841" y="8751901"/>
              <a:ext cx="3860800" cy="990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400" dirty="0">
                  <a:solidFill>
                    <a:srgbClr val="333333"/>
                  </a:solidFill>
                  <a:latin typeface="Arial"/>
                  <a:cs typeface="Arial"/>
                </a:rPr>
                <a:t>• Higher peak velocities
• Standard gait pattern</a:t>
              </a:r>
            </a:p>
          </p:txBody>
        </p: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F1400B33-E666-1644-881D-CC11395AB135}"/>
              </a:ext>
            </a:extLst>
          </p:cNvPr>
          <p:cNvSpPr/>
          <p:nvPr/>
        </p:nvSpPr>
        <p:spPr bwMode="auto">
          <a:xfrm>
            <a:off x="22060148" y="11019656"/>
            <a:ext cx="7344816" cy="368587"/>
          </a:xfrm>
          <a:prstGeom prst="roundRect">
            <a:avLst/>
          </a:prstGeom>
          <a:solidFill>
            <a:srgbClr val="1B3A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4" charset="0"/>
              </a:rPr>
              <a:t>Discussion &amp; Future Work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C04219D-5954-284F-B187-4EEDFF10CAE6}"/>
              </a:ext>
            </a:extLst>
          </p:cNvPr>
          <p:cNvSpPr txBox="1"/>
          <p:nvPr/>
        </p:nvSpPr>
        <p:spPr>
          <a:xfrm>
            <a:off x="21979495" y="11518252"/>
            <a:ext cx="3498130" cy="2165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b="1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Limitations:</a:t>
            </a:r>
          </a:p>
          <a:p>
            <a:r>
              <a:rPr lang="en-US" sz="14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
• Small and imbalanced dataset: 138 subjects with skewed age-group distribution.
• Training Pipeline in refinement: trained ST-GCN classifier model shows moderate-low accuracy and is being improved.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F0B37F13-C9FE-1744-AB54-20BF5A8E36B0}"/>
              </a:ext>
            </a:extLst>
          </p:cNvPr>
          <p:cNvSpPr/>
          <p:nvPr/>
        </p:nvSpPr>
        <p:spPr bwMode="auto">
          <a:xfrm>
            <a:off x="22009349" y="16132224"/>
            <a:ext cx="7344816" cy="482600"/>
          </a:xfrm>
          <a:prstGeom prst="roundRect">
            <a:avLst/>
          </a:prstGeom>
          <a:solidFill>
            <a:srgbClr val="1B3A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itchFamily="34" charset="0"/>
              </a:rPr>
              <a:t>Acknowledgments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77D2289-FEA5-439A-AD78-D46F2D5D0ECC}"/>
              </a:ext>
            </a:extLst>
          </p:cNvPr>
          <p:cNvGrpSpPr/>
          <p:nvPr/>
        </p:nvGrpSpPr>
        <p:grpSpPr>
          <a:xfrm>
            <a:off x="3745141" y="15395146"/>
            <a:ext cx="4645716" cy="1172796"/>
            <a:chOff x="1136584" y="18362479"/>
            <a:chExt cx="8534400" cy="1157146"/>
          </a:xfrm>
        </p:grpSpPr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DD4C45C5-F7D7-534C-9453-CC9915676C54}"/>
                </a:ext>
              </a:extLst>
            </p:cNvPr>
            <p:cNvSpPr/>
            <p:nvPr/>
          </p:nvSpPr>
          <p:spPr bwMode="auto">
            <a:xfrm>
              <a:off x="1136584" y="18362479"/>
              <a:ext cx="8534400" cy="1117600"/>
            </a:xfrm>
            <a:prstGeom prst="roundRect">
              <a:avLst/>
            </a:prstGeom>
            <a:solidFill>
              <a:srgbClr val="F0F4FA"/>
            </a:solidFill>
            <a:ln w="12700" cap="flat" cmpd="sng" algn="ctr">
              <a:solidFill>
                <a:srgbClr val="4A90D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Overflow="clip" horzOverflow="clip"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8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9638AF1-8152-294F-863B-8B7C6A3AED85}"/>
                </a:ext>
              </a:extLst>
            </p:cNvPr>
            <p:cNvSpPr txBox="1"/>
            <p:nvPr/>
          </p:nvSpPr>
          <p:spPr>
            <a:xfrm>
              <a:off x="1236673" y="18421757"/>
              <a:ext cx="6860000" cy="21442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600" b="1" dirty="0">
                  <a:solidFill>
                    <a:srgbClr val="1B3A6B"/>
                  </a:solidFill>
                  <a:latin typeface="Arial"/>
                  <a:cs typeface="Arial"/>
                </a:rPr>
                <a:t>Age vs. Walking Speed Correlation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2EFAFC5-B241-B14D-8ED2-45795C89D9C8}"/>
                </a:ext>
              </a:extLst>
            </p:cNvPr>
            <p:cNvSpPr txBox="1"/>
            <p:nvPr/>
          </p:nvSpPr>
          <p:spPr>
            <a:xfrm>
              <a:off x="1226723" y="18808426"/>
              <a:ext cx="8331201" cy="711199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400" dirty="0">
                  <a:solidFill>
                    <a:srgbClr val="333333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Under 50:  r = −0.13 (negligible correlation)
Over 50:    r = −0.51 (pronounced decline emerges)</a:t>
              </a:r>
            </a:p>
          </p:txBody>
        </p:sp>
      </p:grp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A70DA1B1-1B8A-EC16-4E8F-771CB03C3DA0}"/>
              </a:ext>
            </a:extLst>
          </p:cNvPr>
          <p:cNvSpPr/>
          <p:nvPr/>
        </p:nvSpPr>
        <p:spPr bwMode="auto">
          <a:xfrm>
            <a:off x="881296" y="11389180"/>
            <a:ext cx="1428806" cy="762000"/>
          </a:xfrm>
          <a:prstGeom prst="roundRect">
            <a:avLst/>
          </a:prstGeom>
          <a:solidFill>
            <a:srgbClr val="E8EDF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>
                <a:solidFill>
                  <a:srgbClr val="1B3A6B"/>
                </a:solidFill>
                <a:latin typeface="Arial"/>
                <a:cs typeface="Arial"/>
              </a:rPr>
              <a:t>58 </a:t>
            </a:r>
          </a:p>
          <a:p>
            <a:pPr marL="0" marR="0" indent="0" algn="ctr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1B3A6B"/>
                </a:solidFill>
                <a:effectLst/>
                <a:latin typeface="Arial"/>
                <a:cs typeface="Arial"/>
              </a:rPr>
              <a:t>Data Points</a:t>
            </a:r>
          </a:p>
        </p:txBody>
      </p:sp>
      <p:pic>
        <p:nvPicPr>
          <p:cNvPr id="17" name="Picture 2" descr="Pie chart of age group proportions: Young, Middle, Old">
            <a:extLst>
              <a:ext uri="{FF2B5EF4-FFF2-40B4-BE49-F238E27FC236}">
                <a16:creationId xmlns:a16="http://schemas.microsoft.com/office/drawing/2014/main" id="{35C25FEB-03FB-4CBF-7C72-B78ECAE8A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15" y="12532434"/>
            <a:ext cx="2737112" cy="242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catter plot of age vs walking speed with regression lines">
            <a:extLst>
              <a:ext uri="{FF2B5EF4-FFF2-40B4-BE49-F238E27FC236}">
                <a16:creationId xmlns:a16="http://schemas.microsoft.com/office/drawing/2014/main" id="{EED74314-08AE-67F7-4F36-D3656BA9D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828" y="12377681"/>
            <a:ext cx="4703550" cy="27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C18AB7-0CDD-F54F-B42B-B89398342B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99" y="15271427"/>
            <a:ext cx="3055142" cy="2869843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52D13531-0A37-43F6-9035-AAD4C31FCCAC}"/>
              </a:ext>
            </a:extLst>
          </p:cNvPr>
          <p:cNvGrpSpPr/>
          <p:nvPr/>
        </p:nvGrpSpPr>
        <p:grpSpPr>
          <a:xfrm>
            <a:off x="3685160" y="16734529"/>
            <a:ext cx="4705696" cy="1485927"/>
            <a:chOff x="-109262" y="16768832"/>
            <a:chExt cx="8534400" cy="1016000"/>
          </a:xfrm>
        </p:grpSpPr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D37C9D8C-62A1-FE4D-BCB6-989D7433E962}"/>
                </a:ext>
              </a:extLst>
            </p:cNvPr>
            <p:cNvSpPr/>
            <p:nvPr/>
          </p:nvSpPr>
          <p:spPr bwMode="auto">
            <a:xfrm>
              <a:off x="-109262" y="16768832"/>
              <a:ext cx="8534400" cy="1016000"/>
            </a:xfrm>
            <a:prstGeom prst="roundRect">
              <a:avLst/>
            </a:prstGeom>
            <a:solidFill>
              <a:srgbClr val="FFF8E1"/>
            </a:solidFill>
            <a:ln w="31750" cap="flat" cmpd="sng" algn="ctr">
              <a:solidFill>
                <a:srgbClr val="F9A82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Overflow="clip" horzOverflow="clip"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8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6FA94C3-01F2-9041-8A94-403D5F5A4892}"/>
                </a:ext>
              </a:extLst>
            </p:cNvPr>
            <p:cNvSpPr txBox="1"/>
            <p:nvPr/>
          </p:nvSpPr>
          <p:spPr>
            <a:xfrm>
              <a:off x="93938" y="16887107"/>
              <a:ext cx="8179444" cy="695201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Noto Sans" panose="020B0502040204020203" pitchFamily="34" charset="0"/>
                </a:rPr>
                <a:t>Reduced is one of the primary kinematic signatures of age. While plain walking speed accounts for 50% correlation in aging, </a:t>
              </a:r>
              <a:r>
                <a:rPr lang="en-US" sz="1400" b="1" dirty="0">
                  <a:solidFill>
                    <a:srgbClr val="E2146E"/>
                  </a:solidFill>
                  <a:latin typeface="Noto Sans" panose="020B0502040204020203" pitchFamily="34" charset="0"/>
                </a:rPr>
                <a:t>discrete latent embeddings</a:t>
              </a:r>
              <a:r>
                <a:rPr lang="en-US" sz="1400" dirty="0">
                  <a:solidFill>
                    <a:srgbClr val="555555"/>
                  </a:solidFill>
                  <a:latin typeface="Noto Sans" panose="020B0502040204020203" pitchFamily="34" charset="0"/>
                </a:rPr>
                <a:t> from ST-GCN capture structural gait differences — posture, coordination, and joint dynamics.</a:t>
              </a:r>
              <a:endParaRPr lang="en-US" sz="1400" dirty="0"/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AF233C6D-424A-4F35-9552-FE7D4F8A54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7475" y="4537476"/>
            <a:ext cx="10553736" cy="4004691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6A5D06D5-F811-4171-BE76-7AB280676010}"/>
              </a:ext>
            </a:extLst>
          </p:cNvPr>
          <p:cNvGrpSpPr/>
          <p:nvPr/>
        </p:nvGrpSpPr>
        <p:grpSpPr>
          <a:xfrm>
            <a:off x="15087600" y="7635280"/>
            <a:ext cx="6120679" cy="1101576"/>
            <a:chOff x="15039611" y="8028834"/>
            <a:chExt cx="6435351" cy="1489811"/>
          </a:xfrm>
        </p:grpSpPr>
        <p:sp>
          <p:nvSpPr>
            <p:cNvPr id="83" name="Rounded Rectangle 27">
              <a:extLst>
                <a:ext uri="{FF2B5EF4-FFF2-40B4-BE49-F238E27FC236}">
                  <a16:creationId xmlns:a16="http://schemas.microsoft.com/office/drawing/2014/main" id="{A5071B2B-84B7-48EF-84A4-F6775509C21D}"/>
                </a:ext>
              </a:extLst>
            </p:cNvPr>
            <p:cNvSpPr/>
            <p:nvPr/>
          </p:nvSpPr>
          <p:spPr bwMode="auto">
            <a:xfrm>
              <a:off x="15039611" y="8028834"/>
              <a:ext cx="6435351" cy="1489811"/>
            </a:xfrm>
            <a:prstGeom prst="roundRect">
              <a:avLst/>
            </a:prstGeom>
            <a:solidFill>
              <a:srgbClr val="FDF3E7"/>
            </a:solidFill>
            <a:ln w="19050" cap="flat" cmpd="sng" algn="ctr">
              <a:solidFill>
                <a:srgbClr val="D4A84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Overflow="clip" horzOverflow="clip"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8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2CEDBF3-E987-D77A-6DD2-01DB82251ABF}"/>
                </a:ext>
              </a:extLst>
            </p:cNvPr>
            <p:cNvSpPr txBox="1"/>
            <p:nvPr/>
          </p:nvSpPr>
          <p:spPr>
            <a:xfrm>
              <a:off x="15163370" y="8132056"/>
              <a:ext cx="6222023" cy="132444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Noto Sans" panose="020B0502040204020203" pitchFamily="34" charset="0"/>
                </a:rPr>
                <a:t>Clinical marker data are converted into a machine-learnable graph format through Vertex-based skin mapping, model fitting and feature extraction and model fitting, with noise removal and temporal smoothing to preserve motion quality. </a:t>
              </a:r>
              <a:endParaRPr lang="en-US" sz="1400" dirty="0"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4DC23758-75B9-465C-8B45-6DB1298155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57581" y="8931376"/>
            <a:ext cx="7344815" cy="201676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B9F75F-8F00-40DE-B1FA-6D78C46DD8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76961" y="4478401"/>
            <a:ext cx="3006433" cy="2649737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B3FA6E48-F6C8-418B-B56D-66560EA21562}"/>
              </a:ext>
            </a:extLst>
          </p:cNvPr>
          <p:cNvSpPr txBox="1"/>
          <p:nvPr/>
        </p:nvSpPr>
        <p:spPr>
          <a:xfrm>
            <a:off x="16449922" y="14476040"/>
            <a:ext cx="4902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The diffusion model follows the Human Motion Diffusion Model (MDM) architecture. The forward diffusion process is:</a:t>
            </a:r>
            <a:endParaRPr lang="en-US" sz="1200" dirty="0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2C471005-0E67-4ED7-8C00-000612025B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7541" y="10780204"/>
            <a:ext cx="8968371" cy="3263788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31204B19-4859-4EDA-9426-EFCF06487D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32467" y="14260016"/>
            <a:ext cx="7383122" cy="3321925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CB19DDA-6DDE-1B0B-D8BA-F2A9BA06263C}"/>
              </a:ext>
            </a:extLst>
          </p:cNvPr>
          <p:cNvSpPr/>
          <p:nvPr/>
        </p:nvSpPr>
        <p:spPr bwMode="auto">
          <a:xfrm>
            <a:off x="16516356" y="15112688"/>
            <a:ext cx="4761779" cy="443472"/>
          </a:xfrm>
          <a:prstGeom prst="roundRect">
            <a:avLst/>
          </a:prstGeom>
          <a:solidFill>
            <a:srgbClr val="F5F5F5"/>
          </a:solidFill>
          <a:ln w="1270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634BDA-5B3D-ED2A-F598-ED482B14E46F}"/>
                  </a:ext>
                </a:extLst>
              </p:cNvPr>
              <p:cNvSpPr txBox="1"/>
              <p:nvPr/>
            </p:nvSpPr>
            <p:spPr>
              <a:xfrm>
                <a:off x="16582649" y="15173226"/>
                <a:ext cx="4639697" cy="3223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;</m:t>
                          </m:r>
                          <m:rad>
                            <m:radPr>
                              <m:deg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634BDA-5B3D-ED2A-F598-ED482B14E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9" y="15173226"/>
                <a:ext cx="4639697" cy="322396"/>
              </a:xfrm>
              <a:prstGeom prst="rect">
                <a:avLst/>
              </a:prstGeom>
              <a:blipFill>
                <a:blip r:embed="rId11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">
            <a:extLst>
              <a:ext uri="{FF2B5EF4-FFF2-40B4-BE49-F238E27FC236}">
                <a16:creationId xmlns:a16="http://schemas.microsoft.com/office/drawing/2014/main" id="{14F8F199-81A3-7CBF-F718-D3D2D37B6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5752" y="15692625"/>
            <a:ext cx="486422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where 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x</a:t>
            </a:r>
            <a:r>
              <a:rPr kumimoji="0" lang="en-US" altLang="en-US" sz="1200" b="0" i="1" u="none" strike="noStrike" cap="none" normalizeH="0" baseline="-30000" dirty="0" err="1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t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 ∈ ℝ</a:t>
            </a:r>
            <a:r>
              <a:rPr kumimoji="0" lang="en-US" altLang="en-US" sz="1200" b="0" i="1" u="none" strike="noStrike" cap="none" normalizeH="0" baseline="30000" dirty="0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B × T × 263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 is the noisy motion sequence. Age conditioning is injected by concatenating 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E2146E"/>
                </a:solidFill>
                <a:effectLst/>
                <a:latin typeface="Noto Sans" panose="020B0502040504020204" pitchFamily="34" charset="0"/>
              </a:rPr>
              <a:t>z</a:t>
            </a:r>
            <a:r>
              <a:rPr kumimoji="0" lang="en-US" altLang="en-US" sz="1200" b="0" i="0" u="none" strike="noStrike" cap="none" normalizeH="0" baseline="-30000" dirty="0" err="1">
                <a:ln>
                  <a:noFill/>
                </a:ln>
                <a:solidFill>
                  <a:srgbClr val="E2146E"/>
                </a:solidFill>
                <a:effectLst/>
                <a:latin typeface="Noto Sans" panose="020B0502040504020204" pitchFamily="34" charset="0"/>
              </a:rPr>
              <a:t>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 with the text embedding in the cross-attention layers of the denoising transformer.</a:t>
            </a:r>
            <a:r>
              <a:rPr lang="en-US" altLang="en-US" sz="1200" dirty="0">
                <a:solidFill>
                  <a:srgbClr val="4A4A4A"/>
                </a:solidFill>
                <a:latin typeface="Noto Sans" panose="020B0502040504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  <a:cs typeface="Noto Sans" panose="020B0502040504020204" pitchFamily="34" charset="0"/>
              </a:rPr>
              <a:t>The training objective minimizes the simple noise-prediction loss: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93939B-C28A-D225-4F9D-C3B4508C798B}"/>
                  </a:ext>
                </a:extLst>
              </p:cNvPr>
              <p:cNvSpPr txBox="1"/>
              <p:nvPr/>
            </p:nvSpPr>
            <p:spPr>
              <a:xfrm>
                <a:off x="16895734" y="16933985"/>
                <a:ext cx="4085725" cy="2618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𝟘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𝕥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text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age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lit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93939B-C28A-D225-4F9D-C3B4508C7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5734" y="16933985"/>
                <a:ext cx="4085725" cy="261803"/>
              </a:xfrm>
              <a:prstGeom prst="rect">
                <a:avLst/>
              </a:prstGeom>
              <a:blipFill>
                <a:blip r:embed="rId12"/>
                <a:stretch>
                  <a:fillRect b="-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">
            <a:extLst>
              <a:ext uri="{FF2B5EF4-FFF2-40B4-BE49-F238E27FC236}">
                <a16:creationId xmlns:a16="http://schemas.microsoft.com/office/drawing/2014/main" id="{CB931775-FA06-ECA8-3846-5862D588A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968" y="9577671"/>
            <a:ext cx="651555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  <a:cs typeface="Noto Sans" panose="020B0502040504020204" pitchFamily="34" charset="0"/>
              </a:rPr>
              <a:t>A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363636"/>
                </a:solidFill>
                <a:effectLst/>
                <a:latin typeface="Noto Sans" panose="020B0502040504020204" pitchFamily="34" charset="0"/>
                <a:cs typeface="Noto Sans" panose="020B0502040504020204" pitchFamily="34" charset="0"/>
              </a:rPr>
              <a:t>Spatio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363636"/>
                </a:solidFill>
                <a:effectLst/>
                <a:latin typeface="Noto Sans" panose="020B0502040504020204" pitchFamily="34" charset="0"/>
                <a:cs typeface="Noto Sans" panose="020B0502040504020204" pitchFamily="34" charset="0"/>
              </a:rPr>
              <a:t>-Temporal Graph Convolutional Network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  <a:cs typeface="Noto Sans" panose="020B0502040504020204" pitchFamily="34" charset="0"/>
              </a:rPr>
              <a:t>trained to discriminate between three age groups: Young (&lt;30), Mid-age (30–60), and Elderly (&gt;60) from skeleton motion.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  <a:cs typeface="Noto Sans" panose="020B0502040504020204" pitchFamily="34" charset="0"/>
              </a:rPr>
              <a:t>The backbone is initialized from weights pretrained on NTU RGB+D, while the modified classifier head is retrained on Van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  <a:cs typeface="Noto Sans" panose="020B0502040504020204" pitchFamily="34" charset="0"/>
              </a:rPr>
              <a:t>Criekinge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  <a:latin typeface="Noto Sans" panose="020B0502040504020204" pitchFamily="34" charset="0"/>
                <a:cs typeface="Noto Sans" panose="020B0502040504020204" pitchFamily="34" charset="0"/>
              </a:rPr>
              <a:t> data.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6FE910-FC24-5378-A958-39FED02227C3}"/>
              </a:ext>
            </a:extLst>
          </p:cNvPr>
          <p:cNvSpPr txBox="1"/>
          <p:nvPr/>
        </p:nvSpPr>
        <p:spPr>
          <a:xfrm>
            <a:off x="8927541" y="17678141"/>
            <a:ext cx="243813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4A4A4A"/>
                </a:solidFill>
                <a:latin typeface="Noto Sans" panose="020B0502040504020204" pitchFamily="34" charset="0"/>
              </a:rPr>
              <a:t>Figure: </a:t>
            </a:r>
            <a:r>
              <a:rPr lang="en-US" sz="1200" dirty="0">
                <a:solidFill>
                  <a:srgbClr val="4A4A4A"/>
                </a:solidFill>
                <a:latin typeface="Noto Sans" panose="020B0502040504020204" pitchFamily="34" charset="0"/>
              </a:rPr>
              <a:t>During</a:t>
            </a:r>
            <a:r>
              <a:rPr lang="en-US" sz="1200" b="0" i="0" dirty="0"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 inference, no input motion clip is required. The scalar age is mapped to </a:t>
            </a:r>
            <a:r>
              <a:rPr lang="en-US" sz="1200" b="0" i="0" dirty="0" err="1"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z_age</a:t>
            </a:r>
            <a:r>
              <a:rPr lang="en-US" sz="1200" b="0" i="0" dirty="0"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 by the trained MLP alone, enabling generation from text prompt and age without real reference motion.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CF601D-35BE-ADBA-0A2C-F8ECF6775063}"/>
              </a:ext>
            </a:extLst>
          </p:cNvPr>
          <p:cNvSpPr txBox="1"/>
          <p:nvPr/>
        </p:nvSpPr>
        <p:spPr>
          <a:xfrm>
            <a:off x="21961654" y="7219781"/>
            <a:ext cx="71630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4A4A"/>
                </a:solidFill>
                <a:latin typeface="Noto Sans" panose="020B0502040504020204" pitchFamily="34" charset="0"/>
              </a:rPr>
              <a:t>Age-discriminative kinematic signals are preserved after conversion — confirming pipeline fidelity. Joint angular velocity (rad/s) across a normalized gait cycle. Elderly subjects (Age 78) show systematically reduced peak velocities and constrained range of motion versus young subjects (Age 24).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902296-063E-839E-D570-18B742BC042C}"/>
              </a:ext>
            </a:extLst>
          </p:cNvPr>
          <p:cNvSpPr txBox="1"/>
          <p:nvPr/>
        </p:nvSpPr>
        <p:spPr>
          <a:xfrm>
            <a:off x="16422436" y="9435480"/>
            <a:ext cx="40657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endParaRPr lang="en-US" altLang="en-US" sz="1200" dirty="0">
              <a:solidFill>
                <a:srgbClr val="4A4A4A"/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  <a:p>
            <a:pPr lvl="0" algn="just"/>
            <a:r>
              <a:rPr lang="en-US" altLang="en-US" sz="1200" dirty="0">
                <a:solidFill>
                  <a:srgbClr val="4A4A4A"/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A compact classification head (256→32→3) produces age-group predictions; the 32-dimensional penultimate layer serves as </a:t>
            </a:r>
            <a:r>
              <a:rPr lang="en-US" altLang="en-US" sz="1200" b="1" dirty="0" err="1">
                <a:solidFill>
                  <a:srgbClr val="E2146E"/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z_age</a:t>
            </a:r>
            <a:r>
              <a:rPr lang="en-US" altLang="en-US" sz="1200" dirty="0">
                <a:solidFill>
                  <a:srgbClr val="4A4A4A"/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 — a biomechanically-grounded latent encoding of gait age</a:t>
            </a:r>
            <a:endParaRPr lang="en-US" altLang="en-US" sz="12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2FA3983-0B84-42BC-5581-6FCCC454B0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88608" y="17678142"/>
            <a:ext cx="10207704" cy="154432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588D847-E3B7-10EA-B6D3-2014DBDCFAA8}"/>
              </a:ext>
            </a:extLst>
          </p:cNvPr>
          <p:cNvSpPr txBox="1"/>
          <p:nvPr/>
        </p:nvSpPr>
        <p:spPr>
          <a:xfrm>
            <a:off x="25794617" y="11508611"/>
            <a:ext cx="38385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Future Directions:</a:t>
            </a:r>
          </a:p>
          <a:p>
            <a:r>
              <a:rPr lang="en-US" sz="14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
• Complete the generation loop: Integrate trained </a:t>
            </a:r>
            <a:r>
              <a:rPr lang="en-US" sz="1400" dirty="0" err="1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z_age</a:t>
            </a:r>
            <a:r>
              <a:rPr lang="en-US" sz="14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embeddings into the </a:t>
            </a:r>
            <a:r>
              <a:rPr lang="en-US" sz="1400" dirty="0" err="1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LoRA</a:t>
            </a:r>
            <a:r>
              <a:rPr lang="en-US" sz="14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-MDM cross-attention pipeline
• Age-specific evaluation protocol: Develop metrics grounded in clinical gait analysis to measure biomechanical plausibility across age groups beyond FID.</a:t>
            </a:r>
            <a:endParaRPr lang="en-US" sz="14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DE9D4A4-8115-7B13-2AB8-AD9E002A4642}"/>
              </a:ext>
            </a:extLst>
          </p:cNvPr>
          <p:cNvCxnSpPr>
            <a:cxnSpLocks/>
          </p:cNvCxnSpPr>
          <p:nvPr/>
        </p:nvCxnSpPr>
        <p:spPr bwMode="auto">
          <a:xfrm flipV="1">
            <a:off x="25543192" y="11653668"/>
            <a:ext cx="0" cy="181237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94530365-05C0-9077-6B14-09693061E6C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2"/>
          <a:stretch>
            <a:fillRect/>
          </a:stretch>
        </p:blipFill>
        <p:spPr>
          <a:xfrm>
            <a:off x="18027484" y="10790565"/>
            <a:ext cx="3183066" cy="249595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FA94D50F-3A8A-6363-BCE9-989495E0E319}"/>
              </a:ext>
            </a:extLst>
          </p:cNvPr>
          <p:cNvSpPr txBox="1"/>
          <p:nvPr/>
        </p:nvSpPr>
        <p:spPr>
          <a:xfrm>
            <a:off x="18039280" y="13357147"/>
            <a:ext cx="3183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i="0" dirty="0"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Figure: </a:t>
            </a:r>
            <a:r>
              <a:rPr lang="en-CA" sz="1200" dirty="0">
                <a:solidFill>
                  <a:srgbClr val="4A4A4A"/>
                </a:solidFill>
                <a:latin typeface="Noto Sans" panose="020B0502040504020204" pitchFamily="34" charset="0"/>
              </a:rPr>
              <a:t>A single  16-dim latent embedding vector </a:t>
            </a:r>
            <a:r>
              <a:rPr lang="en-CA" sz="1200" b="0" i="0" dirty="0" err="1"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z_age</a:t>
            </a:r>
            <a:r>
              <a:rPr lang="en-CA" sz="1200" dirty="0">
                <a:solidFill>
                  <a:srgbClr val="4A4A4A"/>
                </a:solidFill>
                <a:latin typeface="Noto Sans" panose="020B0502040504020204" pitchFamily="34" charset="0"/>
              </a:rPr>
              <a:t>, </a:t>
            </a:r>
            <a:r>
              <a:rPr lang="en-CA" sz="1200" b="0" i="0" dirty="0"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extract from skeleton motion, visualized as 4x4 grid.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1E7DAB0-F078-0E0B-451D-6CE78F5A101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851" b="8394"/>
          <a:stretch>
            <a:fillRect/>
          </a:stretch>
        </p:blipFill>
        <p:spPr>
          <a:xfrm>
            <a:off x="26125249" y="13656676"/>
            <a:ext cx="3177333" cy="236597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918F99A-77A8-1439-75F2-234C1CB7A74B}"/>
              </a:ext>
            </a:extLst>
          </p:cNvPr>
          <p:cNvSpPr txBox="1"/>
          <p:nvPr/>
        </p:nvSpPr>
        <p:spPr>
          <a:xfrm>
            <a:off x="21961654" y="13802642"/>
            <a:ext cx="39489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4A4A4A"/>
                </a:solidFill>
                <a:latin typeface="Noto Sans" panose="020B0502040504020204" pitchFamily="34" charset="0"/>
              </a:rPr>
              <a:t>Figure:  </a:t>
            </a:r>
            <a:r>
              <a:rPr lang="en-US" sz="1400" dirty="0">
                <a:solidFill>
                  <a:srgbClr val="4A4A4A"/>
                </a:solidFill>
                <a:latin typeface="Noto Sans" panose="020B0502040504020204" pitchFamily="34" charset="0"/>
              </a:rPr>
              <a:t>PCA of </a:t>
            </a:r>
            <a:r>
              <a:rPr lang="en-US" sz="1400" dirty="0" err="1">
                <a:solidFill>
                  <a:srgbClr val="4A4A4A"/>
                </a:solidFill>
                <a:latin typeface="Noto Sans" panose="020B0502040504020204" pitchFamily="34" charset="0"/>
              </a:rPr>
              <a:t>z_age</a:t>
            </a:r>
            <a:r>
              <a:rPr lang="en-US" sz="1400" dirty="0">
                <a:solidFill>
                  <a:srgbClr val="4A4A4A"/>
                </a:solidFill>
                <a:latin typeface="Noto Sans" panose="020B0502040504020204" pitchFamily="34" charset="0"/>
              </a:rPr>
              <a:t> embeddings (60 subjects, ages 20–80) reveals moderate-weak age-correlated structure in the current latent space, indicating the classifier has not yet learned age-discriminative representations. </a:t>
            </a:r>
          </a:p>
          <a:p>
            <a:r>
              <a:rPr lang="en-US" sz="1400" dirty="0">
                <a:solidFill>
                  <a:srgbClr val="4A4A4A"/>
                </a:solidFill>
                <a:latin typeface="Noto Sans" panose="020B0502040504020204" pitchFamily="34" charset="0"/>
              </a:rPr>
              <a:t>This motivates refinement in model architecture and retraining with larger, more balanced and action-rich dataset.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F5CAA9-7324-9552-3CCC-A3BDC20956A3}"/>
              </a:ext>
            </a:extLst>
          </p:cNvPr>
          <p:cNvSpPr txBox="1"/>
          <p:nvPr/>
        </p:nvSpPr>
        <p:spPr>
          <a:xfrm>
            <a:off x="22046292" y="16700008"/>
            <a:ext cx="7270930" cy="969853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i="1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This work was conducted at the National Research Council of Canada (NRC) under the Aging in Place (AIP) challenge program. Compute resources was provided by the </a:t>
            </a:r>
            <a:r>
              <a:rPr lang="en-US" sz="1400" b="1" i="1" dirty="0">
                <a:solidFill>
                  <a:srgbClr val="0033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NRC Trixie HPU cluster</a:t>
            </a:r>
            <a:r>
              <a:rPr lang="en-US" sz="1400" i="1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 The authors thank Dr. </a:t>
            </a:r>
            <a:r>
              <a:rPr lang="en-US" sz="1400" i="1" dirty="0" err="1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Pengcheng</a:t>
            </a:r>
            <a:r>
              <a:rPr lang="en-US" sz="1400" i="1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Xi and Dr. Chang Shu for supervision and guidance.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306DBF-EB62-1CBB-690A-D0B58F95CC23}"/>
              </a:ext>
            </a:extLst>
          </p:cNvPr>
          <p:cNvSpPr txBox="1"/>
          <p:nvPr/>
        </p:nvSpPr>
        <p:spPr>
          <a:xfrm>
            <a:off x="22057581" y="17799128"/>
            <a:ext cx="71525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Key references:</a:t>
            </a:r>
          </a:p>
          <a:p>
            <a:r>
              <a:rPr lang="en-US" sz="12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[1] Guo et al. — Generating Diverse and Natural 3D Human Motions from Text. CVPR 2022.</a:t>
            </a:r>
          </a:p>
          <a:p>
            <a:r>
              <a:rPr lang="en-US" sz="12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Tevet et al. — Human Motion Diffusion Model. ICLR 2023. </a:t>
            </a:r>
          </a:p>
          <a:p>
            <a:r>
              <a:rPr lang="en-US" sz="12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[2] Yan et al. — Spatial Temporal Graph Convolutional Networks for Skeleton-Based Action Recognition. AAAI 2018</a:t>
            </a:r>
          </a:p>
          <a:p>
            <a:r>
              <a:rPr lang="en-US" sz="12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[3] Van </a:t>
            </a:r>
            <a:r>
              <a:rPr lang="en-US" sz="1200" dirty="0" err="1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Criekinge</a:t>
            </a:r>
            <a:r>
              <a:rPr lang="en-US" sz="1200" dirty="0">
                <a:solidFill>
                  <a:srgbClr val="1A1A1A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et al. —  A full-body motion capture gait dataset of 138 able-bodied adults across the life span and 50 stroke survivors.</a:t>
            </a:r>
          </a:p>
        </p:txBody>
      </p:sp>
    </p:spTree>
    <p:extLst>
      <p:ext uri="{BB962C8B-B14F-4D97-AF65-F5344CB8AC3E}">
        <p14:creationId xmlns:p14="http://schemas.microsoft.com/office/powerpoint/2010/main" val="3940205781"/>
      </p:ext>
    </p:extLst>
  </p:cSld>
  <p:clrMapOvr>
    <a:masterClrMapping/>
  </p:clrMapOvr>
</p:sld>
</file>

<file path=ppt/theme/theme1.xml><?xml version="1.0" encoding="utf-8"?>
<a:theme xmlns:a="http://schemas.openxmlformats.org/drawingml/2006/main" name="Blue">
  <a:themeElements>
    <a:clrScheme name="NRC-custom 1">
      <a:dk1>
        <a:srgbClr val="000000"/>
      </a:dk1>
      <a:lt1>
        <a:sysClr val="window" lastClr="FFFFFF"/>
      </a:lt1>
      <a:dk2>
        <a:srgbClr val="000000"/>
      </a:dk2>
      <a:lt2>
        <a:srgbClr val="E8E8E8"/>
      </a:lt2>
      <a:accent1>
        <a:srgbClr val="006E84"/>
      </a:accent1>
      <a:accent2>
        <a:srgbClr val="003C57"/>
      </a:accent2>
      <a:accent3>
        <a:srgbClr val="005228"/>
      </a:accent3>
      <a:accent4>
        <a:srgbClr val="4D822E"/>
      </a:accent4>
      <a:accent5>
        <a:srgbClr val="233E4A"/>
      </a:accent5>
      <a:accent6>
        <a:srgbClr val="5D0B3C"/>
      </a:accent6>
      <a:hlink>
        <a:srgbClr val="0070C0"/>
      </a:hlink>
      <a:folHlink>
        <a:srgbClr val="0070C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/>
  <a:custClrLst>
    <a:custClr name="Red">
      <a:srgbClr val="A70D13"/>
    </a:custClr>
    <a:custClr name="Yellow">
      <a:srgbClr val="FFBB11"/>
    </a:custClr>
    <a:custClr name="Magenta">
      <a:srgbClr val="E2146E"/>
    </a:custClr>
    <a:custClr name="Canada red">
      <a:srgbClr val="EE1122"/>
    </a:custClr>
    <a:custClr name="Light blue">
      <a:srgbClr val="00AABB"/>
    </a:custClr>
    <a:custClr name="Medium blue">
      <a:srgbClr val="007799"/>
    </a:custClr>
    <a:custClr name="Blue">
      <a:srgbClr val="004466"/>
    </a:custClr>
    <a:custClr name="Grey">
      <a:srgbClr val="223344"/>
    </a:custClr>
    <a:custClr name="Green">
      <a:srgbClr val="006633"/>
    </a:custClr>
    <a:custClr name="Lime green">
      <a:srgbClr val="87BB33"/>
    </a:custClr>
    <a:custClr name="Orange">
      <a:srgbClr val="FF8822"/>
    </a:custClr>
    <a:custClr name="Red">
      <a:srgbClr val="DD2222"/>
    </a:custClr>
    <a:custClr name="Eggplant">
      <a:srgbClr val="662244"/>
    </a:custClr>
    <a:custClr name="Purple">
      <a:srgbClr val="664477"/>
    </a:custClr>
    <a:custClr name="Yellow">
      <a:srgbClr val="FFBB11"/>
    </a:custClr>
    <a:custClr name="Bright Red">
      <a:srgbClr val="EE1122"/>
    </a:custClr>
    <a:custClr name="Magenta">
      <a:srgbClr val="EE2277"/>
    </a:custClr>
    <a:custClr name="Dark magenta">
      <a:srgbClr val="C92668"/>
    </a:custClr>
    <a:custClr name="Dark light blue">
      <a:srgbClr val="0099AA"/>
    </a:custClr>
    <a:custClr name="Dark medium blue">
      <a:srgbClr val="006688"/>
    </a:custClr>
    <a:custClr name="Dark blue">
      <a:srgbClr val="003355"/>
    </a:custClr>
    <a:custClr name="Dark grey">
      <a:srgbClr val="112233"/>
    </a:custClr>
    <a:custClr name="Dark green">
      <a:srgbClr val="005522"/>
    </a:custClr>
    <a:custClr name="Dark lime green">
      <a:srgbClr val="669933"/>
    </a:custClr>
    <a:custClr name="Dark orange">
      <a:srgbClr val="EE6611"/>
    </a:custClr>
    <a:custClr name="Dark red">
      <a:srgbClr val="AA0011"/>
    </a:custClr>
    <a:custClr name="Dark eggplant">
      <a:srgbClr val="550033"/>
    </a:custClr>
    <a:custClr name="Dark purple">
      <a:srgbClr val="553366"/>
    </a:custClr>
  </a:custClrLst>
  <a:extLst>
    <a:ext uri="{05A4C25C-085E-4340-85A3-A5531E510DB2}">
      <thm15:themeFamily xmlns:thm15="http://schemas.microsoft.com/office/thememl/2012/main" name="NRC2024_Scientific-poster_33X23-e" id="{EEB92415-61B8-448C-ADB3-1FD74746A8D8}" vid="{C718D7A2-038D-4F0F-AD06-16402A58E6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E025507-3C2C-234E-A07B-762B1F3CD03B}">
  <we:reference id="wa200010001" version="1.0.0.1" store="en-US" storeType="OMEX"/>
  <we:alternateReferences>
    <we:reference id="wa200010001" version="1.0.0.1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cb-33x23-scientific-poster-template-21022025</Template>
  <TotalTime>1553</TotalTime>
  <Words>911</Words>
  <Application>Microsoft Office PowerPoint</Application>
  <PresentationFormat>Custom</PresentationFormat>
  <Paragraphs>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Noto Sans</vt:lpstr>
      <vt:lpstr>Cambria Math</vt:lpstr>
      <vt:lpstr>Blue</vt:lpstr>
      <vt:lpstr>Modeling Kinematic Signatures of Aging via Diffusion and Graph Networks</vt:lpstr>
    </vt:vector>
  </TitlesOfParts>
  <Company>NRC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 poster title. Type size may vary as needed.  The title may use two lines if required. Grey</dc:title>
  <dc:creator>Liu, Yiran</dc:creator>
  <cp:lastModifiedBy>亦然 刘</cp:lastModifiedBy>
  <cp:revision>166</cp:revision>
  <cp:lastPrinted>2026-03-14T22:10:23Z</cp:lastPrinted>
  <dcterms:created xsi:type="dcterms:W3CDTF">2026-03-10T17:15:58Z</dcterms:created>
  <dcterms:modified xsi:type="dcterms:W3CDTF">2026-03-14T22:10:24Z</dcterms:modified>
</cp:coreProperties>
</file>